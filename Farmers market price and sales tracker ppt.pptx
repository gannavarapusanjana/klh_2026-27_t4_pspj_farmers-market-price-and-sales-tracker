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snapToGrid="0" snapToObjects="1">
      <p:cViewPr varScale="1">
        <p:scale>
          <a:sx n="74" d="100"/>
          <a:sy n="74" d="100"/>
        </p:scale>
        <p:origin x="732"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238"/>
        </a:solidFill>
        <a:effectLst/>
      </p:bgPr>
    </p:bg>
    <p:spTree>
      <p:nvGrpSpPr>
        <p:cNvPr id="1" name=""/>
        <p:cNvGrpSpPr/>
        <p:nvPr/>
      </p:nvGrpSpPr>
      <p:grpSpPr>
        <a:xfrm>
          <a:off x="0" y="0"/>
          <a:ext cx="0" cy="0"/>
          <a:chOff x="0" y="0"/>
          <a:chExt cx="0" cy="0"/>
        </a:xfrm>
      </p:grpSpPr>
      <p:sp>
        <p:nvSpPr>
          <p:cNvPr id="2" name="Oval 1"/>
          <p:cNvSpPr/>
          <p:nvPr/>
        </p:nvSpPr>
        <p:spPr>
          <a:xfrm>
            <a:off x="8321040" y="-822960"/>
            <a:ext cx="4754880" cy="4754880"/>
          </a:xfrm>
          <a:prstGeom prst="ellipse">
            <a:avLst/>
          </a:prstGeom>
          <a:solidFill>
            <a:srgbClr val="1C9B8B"/>
          </a:solidFill>
          <a:ln>
            <a:solidFill>
              <a:srgbClr val="1C9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418320" y="3063240"/>
            <a:ext cx="3291840" cy="3291840"/>
          </a:xfrm>
          <a:prstGeom prst="ellipse">
            <a:avLst/>
          </a:prstGeom>
          <a:solidFill>
            <a:srgbClr val="F4BC59"/>
          </a:solidFill>
          <a:ln>
            <a:solidFill>
              <a:srgbClr val="F4B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909560" y="4251960"/>
            <a:ext cx="1920240" cy="1920240"/>
          </a:xfrm>
          <a:prstGeom prst="ellipse">
            <a:avLst/>
          </a:prstGeom>
          <a:solidFill>
            <a:srgbClr val="E6F5F1"/>
          </a:solidFill>
          <a:ln>
            <a:solidFill>
              <a:srgbClr val="E6F5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64592" cy="6858000"/>
          </a:xfrm>
          <a:prstGeom prst="rect">
            <a:avLst/>
          </a:prstGeom>
          <a:solidFill>
            <a:srgbClr val="1C9B8B"/>
          </a:solidFill>
          <a:ln>
            <a:solidFill>
              <a:srgbClr val="1C9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04672" y="804672"/>
            <a:ext cx="1828800" cy="310896"/>
          </a:xfrm>
          <a:prstGeom prst="roundRect">
            <a:avLst/>
          </a:prstGeom>
          <a:solidFill>
            <a:srgbClr val="1C314C"/>
          </a:solidFill>
          <a:ln>
            <a:solidFill>
              <a:srgbClr val="1C314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JAVA PROJECT</a:t>
            </a:r>
            <a:endParaRPr dirty="0"/>
          </a:p>
        </p:txBody>
      </p:sp>
      <p:sp>
        <p:nvSpPr>
          <p:cNvPr id="8" name="TextBox 7"/>
          <p:cNvSpPr txBox="1"/>
          <p:nvPr/>
        </p:nvSpPr>
        <p:spPr>
          <a:xfrm>
            <a:off x="804672" y="1508760"/>
            <a:ext cx="7772400" cy="1508760"/>
          </a:xfrm>
          <a:prstGeom prst="rect">
            <a:avLst/>
          </a:prstGeom>
          <a:noFill/>
        </p:spPr>
        <p:txBody>
          <a:bodyPr wrap="square" lIns="36576" tIns="36576" rIns="36576" bIns="36576" anchor="t">
            <a:spAutoFit/>
          </a:bodyPr>
          <a:lstStyle/>
          <a:p>
            <a:pPr>
              <a:spcAft>
                <a:spcPts val="400"/>
              </a:spcAft>
            </a:pPr>
            <a:r>
              <a:rPr sz="3600" b="1" i="0">
                <a:solidFill>
                  <a:srgbClr val="FFFFFF"/>
                </a:solidFill>
                <a:latin typeface="Aptos"/>
              </a:rPr>
              <a:t>Farmers Market
Price &amp; Sales Tracker</a:t>
            </a:r>
          </a:p>
        </p:txBody>
      </p:sp>
      <p:sp>
        <p:nvSpPr>
          <p:cNvPr id="9" name="TextBox 8"/>
          <p:cNvSpPr txBox="1"/>
          <p:nvPr/>
        </p:nvSpPr>
        <p:spPr>
          <a:xfrm>
            <a:off x="850392" y="3291840"/>
            <a:ext cx="6629400" cy="777240"/>
          </a:xfrm>
          <a:prstGeom prst="rect">
            <a:avLst/>
          </a:prstGeom>
          <a:noFill/>
        </p:spPr>
        <p:txBody>
          <a:bodyPr wrap="square" lIns="36576" tIns="36576" rIns="36576" bIns="36576" anchor="t">
            <a:spAutoFit/>
          </a:bodyPr>
          <a:lstStyle/>
          <a:p>
            <a:pPr>
              <a:spcAft>
                <a:spcPts val="400"/>
              </a:spcAft>
            </a:pPr>
            <a:r>
              <a:rPr sz="1900" b="0" i="0">
                <a:solidFill>
                  <a:srgbClr val="D8E5EC"/>
                </a:solidFill>
                <a:latin typeface="Aptos"/>
              </a:rPr>
              <a:t>A practical Java console program for recording crop prices,
quantity sold, and total sales value.</a:t>
            </a:r>
          </a:p>
        </p:txBody>
      </p:sp>
      <p:sp>
        <p:nvSpPr>
          <p:cNvPr id="10" name="Rectangle 9"/>
          <p:cNvSpPr/>
          <p:nvPr/>
        </p:nvSpPr>
        <p:spPr>
          <a:xfrm>
            <a:off x="859536" y="4389120"/>
            <a:ext cx="914400" cy="54864"/>
          </a:xfrm>
          <a:prstGeom prst="rect">
            <a:avLst/>
          </a:prstGeom>
          <a:solidFill>
            <a:srgbClr val="F4BC59"/>
          </a:solidFill>
          <a:ln>
            <a:solidFill>
              <a:srgbClr val="F4B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4761411"/>
            <a:ext cx="6620255" cy="1335750"/>
          </a:xfrm>
          <a:prstGeom prst="rect">
            <a:avLst/>
          </a:prstGeom>
          <a:noFill/>
        </p:spPr>
        <p:txBody>
          <a:bodyPr wrap="square" lIns="36576" tIns="36576" rIns="36576" bIns="36576" anchor="t">
            <a:spAutoFit/>
          </a:bodyPr>
          <a:lstStyle/>
          <a:p>
            <a:pPr>
              <a:spcAft>
                <a:spcPts val="400"/>
              </a:spcAft>
            </a:pPr>
            <a:r>
              <a:rPr sz="2000" b="1" i="0" dirty="0">
                <a:solidFill>
                  <a:srgbClr val="FFFFFF"/>
                </a:solidFill>
                <a:latin typeface="Aptos"/>
              </a:rPr>
              <a:t>PRESENTED BY  </a:t>
            </a:r>
            <a:r>
              <a:rPr lang="en-US" sz="2000" b="1" dirty="0">
                <a:solidFill>
                  <a:srgbClr val="FFFFFF"/>
                </a:solidFill>
                <a:latin typeface="Aptos"/>
              </a:rPr>
              <a:t>:</a:t>
            </a:r>
          </a:p>
          <a:p>
            <a:pPr>
              <a:spcAft>
                <a:spcPts val="400"/>
              </a:spcAft>
            </a:pPr>
            <a:r>
              <a:rPr lang="en-US" sz="2000" b="1" i="0" dirty="0" err="1">
                <a:solidFill>
                  <a:srgbClr val="FFFFFF"/>
                </a:solidFill>
                <a:latin typeface="Aptos"/>
              </a:rPr>
              <a:t>Rohita</a:t>
            </a:r>
            <a:r>
              <a:rPr lang="en-US" sz="2000" b="1" i="0" dirty="0">
                <a:solidFill>
                  <a:srgbClr val="FFFFFF"/>
                </a:solidFill>
                <a:latin typeface="Aptos"/>
              </a:rPr>
              <a:t> – 2620040040</a:t>
            </a:r>
          </a:p>
          <a:p>
            <a:pPr>
              <a:spcAft>
                <a:spcPts val="400"/>
              </a:spcAft>
            </a:pPr>
            <a:r>
              <a:rPr lang="en-US" sz="2000" b="1" dirty="0" err="1">
                <a:solidFill>
                  <a:srgbClr val="FFFFFF"/>
                </a:solidFill>
                <a:latin typeface="Aptos"/>
              </a:rPr>
              <a:t>Sanjana</a:t>
            </a:r>
            <a:r>
              <a:rPr lang="en-US" sz="2000" b="1" dirty="0">
                <a:solidFill>
                  <a:srgbClr val="FFFFFF"/>
                </a:solidFill>
                <a:latin typeface="Aptos"/>
              </a:rPr>
              <a:t> - 2620090024</a:t>
            </a:r>
            <a:r>
              <a:rPr sz="1200" b="1" i="0" dirty="0">
                <a:solidFill>
                  <a:srgbClr val="FFFFFF"/>
                </a:solidFill>
                <a:latin typeface="Aptos"/>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8"/>
        </a:solidFill>
        <a:effectLst/>
      </p:bgPr>
    </p:bg>
    <p:spTree>
      <p:nvGrpSpPr>
        <p:cNvPr id="1" name=""/>
        <p:cNvGrpSpPr/>
        <p:nvPr/>
      </p:nvGrpSpPr>
      <p:grpSpPr>
        <a:xfrm>
          <a:off x="0" y="0"/>
          <a:ext cx="0" cy="0"/>
          <a:chOff x="0" y="0"/>
          <a:chExt cx="0" cy="0"/>
        </a:xfrm>
      </p:grpSpPr>
      <p:sp>
        <p:nvSpPr>
          <p:cNvPr id="5" name="TextBox 4"/>
          <p:cNvSpPr txBox="1"/>
          <p:nvPr/>
        </p:nvSpPr>
        <p:spPr>
          <a:xfrm>
            <a:off x="10744200" y="6473952"/>
            <a:ext cx="822960" cy="182880"/>
          </a:xfrm>
          <a:prstGeom prst="rect">
            <a:avLst/>
          </a:prstGeom>
          <a:noFill/>
        </p:spPr>
        <p:txBody>
          <a:bodyPr wrap="square" lIns="36576" tIns="36576" rIns="36576" bIns="36576" anchor="t">
            <a:spAutoFit/>
          </a:bodyPr>
          <a:lstStyle/>
          <a:p>
            <a:pPr algn="r">
              <a:spcAft>
                <a:spcPts val="400"/>
              </a:spcAft>
            </a:pPr>
            <a:r>
              <a:rPr sz="900" b="0" i="0">
                <a:solidFill>
                  <a:srgbClr val="5E6D7E"/>
                </a:solidFill>
                <a:latin typeface="Aptos"/>
              </a:rPr>
              <a:t>02  /  12</a:t>
            </a:r>
          </a:p>
        </p:txBody>
      </p:sp>
      <p:sp>
        <p:nvSpPr>
          <p:cNvPr id="2" name="Rounded Rectangle 1"/>
          <p:cNvSpPr/>
          <p:nvPr/>
        </p:nvSpPr>
        <p:spPr>
          <a:xfrm>
            <a:off x="535577" y="300447"/>
            <a:ext cx="11168743" cy="617350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sz="3600" b="1" dirty="0">
                <a:solidFill>
                  <a:srgbClr val="132238"/>
                </a:solidFill>
                <a:latin typeface="Aptos"/>
              </a:rPr>
              <a:t>     ABSTRACT</a:t>
            </a:r>
            <a:r>
              <a:rPr lang="en-US" b="1" dirty="0">
                <a:solidFill>
                  <a:srgbClr val="132238"/>
                </a:solidFill>
                <a:latin typeface="Aptos"/>
              </a:rPr>
              <a:t> </a:t>
            </a:r>
            <a:r>
              <a:rPr lang="en-US" sz="2400" b="1" dirty="0">
                <a:solidFill>
                  <a:srgbClr val="132238"/>
                </a:solidFill>
                <a:latin typeface="Aptos"/>
              </a:rPr>
              <a:t>: </a:t>
            </a:r>
            <a:r>
              <a:rPr lang="en-US" sz="2400" b="1" dirty="0"/>
              <a:t> FARMER’S MARKET PRICE AND SALES TRACKER</a:t>
            </a:r>
          </a:p>
          <a:p>
            <a:endParaRPr lang="en-US" sz="2000" dirty="0"/>
          </a:p>
          <a:p>
            <a:pPr marL="342900" indent="-342900">
              <a:buFont typeface="Wingdings" panose="05000000000000000000" pitchFamily="2" charset="2"/>
              <a:buChar char="§"/>
            </a:pPr>
            <a:r>
              <a:rPr lang="en-US" sz="2000" dirty="0"/>
              <a:t>The </a:t>
            </a:r>
            <a:r>
              <a:rPr lang="en-US" sz="2000" b="1" dirty="0"/>
              <a:t>Farmers Market Price and Sales Tracker</a:t>
            </a:r>
            <a:r>
              <a:rPr lang="en-US" sz="2000" dirty="0"/>
              <a:t> is a software application designed to help farmers manage and monitor the prices and sales of their agricultural products. Farmers often face difficulties in keeping track of changing market prices, daily sales, quantities sold, and overall income. </a:t>
            </a:r>
          </a:p>
          <a:p>
            <a:pPr marL="342900" indent="-342900">
              <a:buFont typeface="Wingdings" panose="05000000000000000000" pitchFamily="2" charset="2"/>
              <a:buChar char="§"/>
            </a:pPr>
            <a:r>
              <a:rPr lang="en-US" sz="2000" dirty="0"/>
              <a:t>This system provides a simple and organized platform to record product details, market prices, sales quantities, and revenue. The application allows farmers to add and update information about crops, view current or recorded market prices, and maintain sales records. </a:t>
            </a:r>
          </a:p>
          <a:p>
            <a:pPr marL="342900" indent="-342900">
              <a:buFont typeface="Wingdings" panose="05000000000000000000" pitchFamily="2" charset="2"/>
              <a:buChar char="§"/>
            </a:pPr>
            <a:r>
              <a:rPr lang="en-US" sz="2000" dirty="0"/>
              <a:t>It can also calculate total sales and revenue, helping farmers understand their business performance. By maintaining digital records, the system reduces manual paperwork and makes information easier to access and manage.</a:t>
            </a:r>
          </a:p>
          <a:p>
            <a:pPr marL="342900" indent="-342900">
              <a:buFont typeface="Wingdings" panose="05000000000000000000" pitchFamily="2" charset="2"/>
              <a:buChar char="§"/>
            </a:pPr>
            <a:r>
              <a:rPr lang="en-US" sz="2000" dirty="0"/>
              <a:t>The proposed system aims to improve </a:t>
            </a:r>
            <a:r>
              <a:rPr lang="en-US" sz="2000" b="1" dirty="0"/>
              <a:t>decision-making, sales management, price tracking, and financial record-keeping</a:t>
            </a:r>
            <a:r>
              <a:rPr lang="en-US" sz="2000" dirty="0"/>
              <a:t> for farmers. It provides a user-friendly and efficient solution that can help farmers better understand market trends and manage their agricultural products effectively.</a:t>
            </a:r>
          </a:p>
          <a:p>
            <a:pPr marL="457200" indent="-457200">
              <a:spcAft>
                <a:spcPts val="400"/>
              </a:spcAft>
              <a:buFont typeface="Wingdings" panose="05000000000000000000" pitchFamily="2" charset="2"/>
              <a:buChar char="§"/>
            </a:pPr>
            <a:endParaRPr lang="en-US" sz="2800" b="1" dirty="0">
              <a:solidFill>
                <a:srgbClr val="132238"/>
              </a:solidFill>
              <a:latin typeface="Aptos"/>
            </a:endParaRPr>
          </a:p>
          <a:p>
            <a:pPr algn="ct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8"/>
        </a:solidFill>
        <a:effectLst/>
      </p:bgPr>
    </p:bg>
    <p:spTree>
      <p:nvGrpSpPr>
        <p:cNvPr id="1" name=""/>
        <p:cNvGrpSpPr/>
        <p:nvPr/>
      </p:nvGrpSpPr>
      <p:grpSpPr>
        <a:xfrm>
          <a:off x="0" y="0"/>
          <a:ext cx="0" cy="0"/>
          <a:chOff x="0" y="0"/>
          <a:chExt cx="0" cy="0"/>
        </a:xfrm>
      </p:grpSpPr>
      <p:sp>
        <p:nvSpPr>
          <p:cNvPr id="2" name="TextBox 1"/>
          <p:cNvSpPr txBox="1"/>
          <p:nvPr/>
        </p:nvSpPr>
        <p:spPr>
          <a:xfrm>
            <a:off x="658368" y="292608"/>
            <a:ext cx="9875520" cy="228600"/>
          </a:xfrm>
          <a:prstGeom prst="rect">
            <a:avLst/>
          </a:prstGeom>
          <a:noFill/>
        </p:spPr>
        <p:txBody>
          <a:bodyPr wrap="square" lIns="36576" tIns="36576" rIns="36576" bIns="36576" anchor="t">
            <a:spAutoFit/>
          </a:bodyPr>
          <a:lstStyle/>
          <a:p>
            <a:pPr>
              <a:spcAft>
                <a:spcPts val="400"/>
              </a:spcAft>
            </a:pPr>
            <a:r>
              <a:rPr sz="1000" b="1" i="0">
                <a:solidFill>
                  <a:srgbClr val="1C9B8B"/>
                </a:solidFill>
                <a:latin typeface="Aptos"/>
              </a:rPr>
              <a:t>CO1  •  BTL3  •  APPLY</a:t>
            </a:r>
          </a:p>
        </p:txBody>
      </p:sp>
      <p:sp>
        <p:nvSpPr>
          <p:cNvPr id="3" name="TextBox 2"/>
          <p:cNvSpPr txBox="1"/>
          <p:nvPr/>
        </p:nvSpPr>
        <p:spPr>
          <a:xfrm>
            <a:off x="658368" y="658368"/>
            <a:ext cx="10789920" cy="530352"/>
          </a:xfrm>
          <a:prstGeom prst="rect">
            <a:avLst/>
          </a:prstGeom>
          <a:noFill/>
        </p:spPr>
        <p:txBody>
          <a:bodyPr wrap="square" lIns="36576" tIns="36576" rIns="36576" bIns="36576" anchor="t">
            <a:spAutoFit/>
          </a:bodyPr>
          <a:lstStyle/>
          <a:p>
            <a:pPr>
              <a:spcAft>
                <a:spcPts val="400"/>
              </a:spcAft>
            </a:pPr>
            <a:r>
              <a:rPr sz="2800" b="1" i="0">
                <a:solidFill>
                  <a:srgbClr val="132238"/>
                </a:solidFill>
                <a:latin typeface="Aptos"/>
              </a:rPr>
              <a:t>From Problem to Program</a:t>
            </a:r>
          </a:p>
        </p:txBody>
      </p:sp>
      <p:sp>
        <p:nvSpPr>
          <p:cNvPr id="4" name="Rectangle 3"/>
          <p:cNvSpPr/>
          <p:nvPr/>
        </p:nvSpPr>
        <p:spPr>
          <a:xfrm>
            <a:off x="667512" y="1298448"/>
            <a:ext cx="777240" cy="50292"/>
          </a:xfrm>
          <a:prstGeom prst="rect">
            <a:avLst/>
          </a:prstGeom>
          <a:solidFill>
            <a:srgbClr val="1C9B8B"/>
          </a:solidFill>
          <a:ln>
            <a:solidFill>
              <a:srgbClr val="1C9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744200" y="6473952"/>
            <a:ext cx="822960" cy="182880"/>
          </a:xfrm>
          <a:prstGeom prst="rect">
            <a:avLst/>
          </a:prstGeom>
          <a:noFill/>
        </p:spPr>
        <p:txBody>
          <a:bodyPr wrap="square" lIns="36576" tIns="36576" rIns="36576" bIns="36576" anchor="t">
            <a:spAutoFit/>
          </a:bodyPr>
          <a:lstStyle/>
          <a:p>
            <a:pPr algn="r">
              <a:spcAft>
                <a:spcPts val="400"/>
              </a:spcAft>
            </a:pPr>
            <a:r>
              <a:rPr sz="900" b="0" i="0">
                <a:solidFill>
                  <a:srgbClr val="5E6D7E"/>
                </a:solidFill>
                <a:latin typeface="Aptos"/>
              </a:rPr>
              <a:t>03  /  12</a:t>
            </a:r>
          </a:p>
        </p:txBody>
      </p:sp>
      <p:sp>
        <p:nvSpPr>
          <p:cNvPr id="6" name="TextBox 5"/>
          <p:cNvSpPr txBox="1"/>
          <p:nvPr/>
        </p:nvSpPr>
        <p:spPr>
          <a:xfrm>
            <a:off x="749808" y="1627632"/>
            <a:ext cx="10515600" cy="502920"/>
          </a:xfrm>
          <a:prstGeom prst="rect">
            <a:avLst/>
          </a:prstGeom>
          <a:noFill/>
        </p:spPr>
        <p:txBody>
          <a:bodyPr wrap="square" lIns="36576" tIns="36576" rIns="36576" bIns="36576" anchor="t">
            <a:spAutoFit/>
          </a:bodyPr>
          <a:lstStyle/>
          <a:p>
            <a:pPr>
              <a:spcAft>
                <a:spcPts val="400"/>
              </a:spcAft>
            </a:pPr>
            <a:r>
              <a:rPr sz="2000" b="1" i="0">
                <a:solidFill>
                  <a:srgbClr val="132238"/>
                </a:solidFill>
                <a:latin typeface="Aptos"/>
              </a:rPr>
              <a:t>Convert a real-world task into a precise algorithm and a working Java program.</a:t>
            </a:r>
          </a:p>
        </p:txBody>
      </p:sp>
      <p:sp>
        <p:nvSpPr>
          <p:cNvPr id="7" name="Rounded Rectangle 6"/>
          <p:cNvSpPr/>
          <p:nvPr/>
        </p:nvSpPr>
        <p:spPr>
          <a:xfrm>
            <a:off x="749808" y="2395728"/>
            <a:ext cx="5166360" cy="2514600"/>
          </a:xfrm>
          <a:prstGeom prst="roundRect">
            <a:avLst/>
          </a:prstGeom>
          <a:solidFill>
            <a:srgbClr val="FFFFFF"/>
          </a:solidFill>
          <a:ln>
            <a:solidFill>
              <a:srgbClr val="DE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49808" y="2395728"/>
            <a:ext cx="68580" cy="2514600"/>
          </a:xfrm>
          <a:prstGeom prst="rect">
            <a:avLst/>
          </a:prstGeom>
          <a:solidFill>
            <a:srgbClr val="1C9B8B"/>
          </a:solidFill>
          <a:ln>
            <a:solidFill>
              <a:srgbClr val="1C9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0976" y="2560320"/>
            <a:ext cx="4782312" cy="320040"/>
          </a:xfrm>
          <a:prstGeom prst="rect">
            <a:avLst/>
          </a:prstGeom>
          <a:noFill/>
        </p:spPr>
        <p:txBody>
          <a:bodyPr wrap="square" lIns="36576" tIns="36576" rIns="36576" bIns="36576" anchor="t">
            <a:spAutoFit/>
          </a:bodyPr>
          <a:lstStyle/>
          <a:p>
            <a:pPr>
              <a:spcAft>
                <a:spcPts val="400"/>
              </a:spcAft>
            </a:pPr>
            <a:r>
              <a:rPr sz="1700" b="1" i="0">
                <a:solidFill>
                  <a:srgbClr val="132238"/>
                </a:solidFill>
                <a:latin typeface="Aptos"/>
              </a:rPr>
              <a:t>Algorithm</a:t>
            </a:r>
          </a:p>
        </p:txBody>
      </p:sp>
      <p:sp>
        <p:nvSpPr>
          <p:cNvPr id="10" name="TextBox 9"/>
          <p:cNvSpPr txBox="1"/>
          <p:nvPr/>
        </p:nvSpPr>
        <p:spPr>
          <a:xfrm>
            <a:off x="950976" y="3017520"/>
            <a:ext cx="4782312" cy="1746504"/>
          </a:xfrm>
          <a:prstGeom prst="rect">
            <a:avLst/>
          </a:prstGeom>
          <a:noFill/>
        </p:spPr>
        <p:txBody>
          <a:bodyPr wrap="square" lIns="36576" tIns="36576" rIns="36576" bIns="36576" anchor="t">
            <a:spAutoFit/>
          </a:bodyPr>
          <a:lstStyle/>
          <a:p>
            <a:pPr>
              <a:spcAft>
                <a:spcPts val="400"/>
              </a:spcAft>
            </a:pPr>
            <a:r>
              <a:rPr sz="1600" b="0" i="0">
                <a:solidFill>
                  <a:srgbClr val="132238"/>
                </a:solidFill>
                <a:latin typeface="Aptos"/>
              </a:rPr>
              <a:t>1. Read the crop name
2. Read price per kilogram
3. Read quantity sold
4. total = price × quantity
5. Display the sales report</a:t>
            </a:r>
          </a:p>
        </p:txBody>
      </p:sp>
      <p:sp>
        <p:nvSpPr>
          <p:cNvPr id="11" name="Rounded Rectangle 10"/>
          <p:cNvSpPr/>
          <p:nvPr/>
        </p:nvSpPr>
        <p:spPr>
          <a:xfrm>
            <a:off x="6236208" y="2395728"/>
            <a:ext cx="5166360" cy="2514600"/>
          </a:xfrm>
          <a:prstGeom prst="roundRect">
            <a:avLst/>
          </a:prstGeom>
          <a:solidFill>
            <a:srgbClr val="FFFFFF"/>
          </a:solidFill>
          <a:ln>
            <a:solidFill>
              <a:srgbClr val="DE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36208" y="2395728"/>
            <a:ext cx="68580" cy="2514600"/>
          </a:xfrm>
          <a:prstGeom prst="rect">
            <a:avLst/>
          </a:prstGeom>
          <a:solidFill>
            <a:srgbClr val="F4BC59"/>
          </a:solidFill>
          <a:ln>
            <a:solidFill>
              <a:srgbClr val="F4B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37376" y="2560320"/>
            <a:ext cx="4782312" cy="320040"/>
          </a:xfrm>
          <a:prstGeom prst="rect">
            <a:avLst/>
          </a:prstGeom>
          <a:noFill/>
        </p:spPr>
        <p:txBody>
          <a:bodyPr wrap="square" lIns="36576" tIns="36576" rIns="36576" bIns="36576" anchor="t">
            <a:spAutoFit/>
          </a:bodyPr>
          <a:lstStyle/>
          <a:p>
            <a:pPr>
              <a:spcAft>
                <a:spcPts val="400"/>
              </a:spcAft>
            </a:pPr>
            <a:r>
              <a:rPr sz="1700" b="1" i="0">
                <a:solidFill>
                  <a:srgbClr val="132238"/>
                </a:solidFill>
                <a:latin typeface="Aptos"/>
              </a:rPr>
              <a:t>Java fundamentals</a:t>
            </a:r>
          </a:p>
        </p:txBody>
      </p:sp>
      <p:sp>
        <p:nvSpPr>
          <p:cNvPr id="14" name="TextBox 13"/>
          <p:cNvSpPr txBox="1"/>
          <p:nvPr/>
        </p:nvSpPr>
        <p:spPr>
          <a:xfrm>
            <a:off x="6437376" y="3017520"/>
            <a:ext cx="4782312" cy="1746504"/>
          </a:xfrm>
          <a:prstGeom prst="rect">
            <a:avLst/>
          </a:prstGeom>
          <a:noFill/>
        </p:spPr>
        <p:txBody>
          <a:bodyPr wrap="square" lIns="36576" tIns="36576" rIns="36576" bIns="36576" anchor="t">
            <a:spAutoFit/>
          </a:bodyPr>
          <a:lstStyle/>
          <a:p>
            <a:pPr>
              <a:spcAft>
                <a:spcPts val="400"/>
              </a:spcAft>
            </a:pPr>
            <a:r>
              <a:rPr sz="1500" b="0" i="0">
                <a:solidFill>
                  <a:srgbClr val="132238"/>
                </a:solidFill>
                <a:latin typeface="Aptos"/>
              </a:rPr>
              <a:t>String stores the crop name
 double stores price and quantity
 Scanner reads console input
 Arithmetic expression calculates total
 println() prints the result</a:t>
            </a:r>
          </a:p>
        </p:txBody>
      </p:sp>
      <p:sp>
        <p:nvSpPr>
          <p:cNvPr id="15" name="Rounded Rectangle 14"/>
          <p:cNvSpPr/>
          <p:nvPr/>
        </p:nvSpPr>
        <p:spPr>
          <a:xfrm>
            <a:off x="822960" y="5321808"/>
            <a:ext cx="914400" cy="310896"/>
          </a:xfrm>
          <a:prstGeom prst="roundRect">
            <a:avLst/>
          </a:prstGeom>
          <a:solidFill>
            <a:srgbClr val="E6F5F1"/>
          </a:solidFill>
          <a:ln>
            <a:solidFill>
              <a:srgbClr val="E6F5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77824" y="5358384"/>
            <a:ext cx="804672" cy="201168"/>
          </a:xfrm>
          <a:prstGeom prst="rect">
            <a:avLst/>
          </a:prstGeom>
          <a:noFill/>
        </p:spPr>
        <p:txBody>
          <a:bodyPr wrap="square" lIns="36576" tIns="36576" rIns="36576" bIns="36576" anchor="t">
            <a:spAutoFit/>
          </a:bodyPr>
          <a:lstStyle/>
          <a:p>
            <a:pPr algn="ctr">
              <a:spcAft>
                <a:spcPts val="400"/>
              </a:spcAft>
            </a:pPr>
            <a:r>
              <a:rPr sz="1000" b="1" i="0">
                <a:solidFill>
                  <a:srgbClr val="1C9B8B"/>
                </a:solidFill>
                <a:latin typeface="Aptos"/>
              </a:rPr>
              <a:t>EXAMPLE</a:t>
            </a:r>
          </a:p>
        </p:txBody>
      </p:sp>
      <p:sp>
        <p:nvSpPr>
          <p:cNvPr id="17" name="TextBox 16"/>
          <p:cNvSpPr txBox="1"/>
          <p:nvPr/>
        </p:nvSpPr>
        <p:spPr>
          <a:xfrm>
            <a:off x="1874519" y="5321808"/>
            <a:ext cx="8138160" cy="320040"/>
          </a:xfrm>
          <a:prstGeom prst="rect">
            <a:avLst/>
          </a:prstGeom>
          <a:noFill/>
        </p:spPr>
        <p:txBody>
          <a:bodyPr wrap="square" lIns="36576" tIns="36576" rIns="36576" bIns="36576" anchor="t">
            <a:spAutoFit/>
          </a:bodyPr>
          <a:lstStyle/>
          <a:p>
            <a:pPr>
              <a:spcAft>
                <a:spcPts val="400"/>
              </a:spcAft>
            </a:pPr>
            <a:r>
              <a:rPr sz="1800" b="1" i="0">
                <a:solidFill>
                  <a:srgbClr val="1C9B8B"/>
                </a:solidFill>
                <a:latin typeface="Aptos"/>
              </a:rPr>
              <a:t>₹25 per kg × 40 kg = ₹1,000 total sales revenue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8"/>
        </a:solidFill>
        <a:effectLst/>
      </p:bgPr>
    </p:bg>
    <p:spTree>
      <p:nvGrpSpPr>
        <p:cNvPr id="1" name=""/>
        <p:cNvGrpSpPr/>
        <p:nvPr/>
      </p:nvGrpSpPr>
      <p:grpSpPr>
        <a:xfrm>
          <a:off x="0" y="0"/>
          <a:ext cx="0" cy="0"/>
          <a:chOff x="0" y="0"/>
          <a:chExt cx="0" cy="0"/>
        </a:xfrm>
      </p:grpSpPr>
      <p:sp>
        <p:nvSpPr>
          <p:cNvPr id="2" name="TextBox 1"/>
          <p:cNvSpPr txBox="1"/>
          <p:nvPr/>
        </p:nvSpPr>
        <p:spPr>
          <a:xfrm>
            <a:off x="658368" y="292608"/>
            <a:ext cx="9875520" cy="228600"/>
          </a:xfrm>
          <a:prstGeom prst="rect">
            <a:avLst/>
          </a:prstGeom>
          <a:noFill/>
        </p:spPr>
        <p:txBody>
          <a:bodyPr wrap="square" lIns="36576" tIns="36576" rIns="36576" bIns="36576" anchor="t">
            <a:spAutoFit/>
          </a:bodyPr>
          <a:lstStyle/>
          <a:p>
            <a:pPr>
              <a:spcAft>
                <a:spcPts val="400"/>
              </a:spcAft>
            </a:pPr>
            <a:r>
              <a:rPr sz="1000" b="1" i="0">
                <a:solidFill>
                  <a:srgbClr val="1C9B8B"/>
                </a:solidFill>
                <a:latin typeface="Aptos"/>
              </a:rPr>
              <a:t>CO2  •  BTL4  •  ANALYZE</a:t>
            </a:r>
          </a:p>
        </p:txBody>
      </p:sp>
      <p:sp>
        <p:nvSpPr>
          <p:cNvPr id="3" name="TextBox 2"/>
          <p:cNvSpPr txBox="1"/>
          <p:nvPr/>
        </p:nvSpPr>
        <p:spPr>
          <a:xfrm>
            <a:off x="658368" y="658368"/>
            <a:ext cx="10789920" cy="530352"/>
          </a:xfrm>
          <a:prstGeom prst="rect">
            <a:avLst/>
          </a:prstGeom>
          <a:noFill/>
        </p:spPr>
        <p:txBody>
          <a:bodyPr wrap="square" lIns="36576" tIns="36576" rIns="36576" bIns="36576" anchor="t">
            <a:spAutoFit/>
          </a:bodyPr>
          <a:lstStyle/>
          <a:p>
            <a:pPr>
              <a:spcAft>
                <a:spcPts val="400"/>
              </a:spcAft>
            </a:pPr>
            <a:r>
              <a:rPr sz="2800" b="1" i="0">
                <a:solidFill>
                  <a:srgbClr val="132238"/>
                </a:solidFill>
                <a:latin typeface="Aptos"/>
              </a:rPr>
              <a:t>Control Flow</a:t>
            </a:r>
          </a:p>
        </p:txBody>
      </p:sp>
      <p:sp>
        <p:nvSpPr>
          <p:cNvPr id="4" name="Rectangle 3"/>
          <p:cNvSpPr/>
          <p:nvPr/>
        </p:nvSpPr>
        <p:spPr>
          <a:xfrm>
            <a:off x="667512" y="1298448"/>
            <a:ext cx="777240" cy="50292"/>
          </a:xfrm>
          <a:prstGeom prst="rect">
            <a:avLst/>
          </a:prstGeom>
          <a:solidFill>
            <a:srgbClr val="1C9B8B"/>
          </a:solidFill>
          <a:ln>
            <a:solidFill>
              <a:srgbClr val="1C9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744200" y="6473952"/>
            <a:ext cx="822960" cy="182880"/>
          </a:xfrm>
          <a:prstGeom prst="rect">
            <a:avLst/>
          </a:prstGeom>
          <a:noFill/>
        </p:spPr>
        <p:txBody>
          <a:bodyPr wrap="square" lIns="36576" tIns="36576" rIns="36576" bIns="36576" anchor="t">
            <a:spAutoFit/>
          </a:bodyPr>
          <a:lstStyle/>
          <a:p>
            <a:pPr algn="r">
              <a:spcAft>
                <a:spcPts val="400"/>
              </a:spcAft>
            </a:pPr>
            <a:r>
              <a:rPr sz="900" b="0" i="0">
                <a:solidFill>
                  <a:srgbClr val="5E6D7E"/>
                </a:solidFill>
                <a:latin typeface="Aptos"/>
              </a:rPr>
              <a:t>04  /  12</a:t>
            </a:r>
          </a:p>
        </p:txBody>
      </p:sp>
      <p:sp>
        <p:nvSpPr>
          <p:cNvPr id="6" name="TextBox 5"/>
          <p:cNvSpPr txBox="1"/>
          <p:nvPr/>
        </p:nvSpPr>
        <p:spPr>
          <a:xfrm>
            <a:off x="749808" y="1627632"/>
            <a:ext cx="10698480" cy="566928"/>
          </a:xfrm>
          <a:prstGeom prst="rect">
            <a:avLst/>
          </a:prstGeom>
          <a:noFill/>
        </p:spPr>
        <p:txBody>
          <a:bodyPr wrap="square" lIns="36576" tIns="36576" rIns="36576" bIns="36576" anchor="t">
            <a:spAutoFit/>
          </a:bodyPr>
          <a:lstStyle/>
          <a:p>
            <a:pPr>
              <a:spcAft>
                <a:spcPts val="400"/>
              </a:spcAft>
            </a:pPr>
            <a:r>
              <a:rPr sz="1900" b="1" i="0">
                <a:solidFill>
                  <a:srgbClr val="132238"/>
                </a:solidFill>
                <a:latin typeface="Aptos"/>
              </a:rPr>
              <a:t>Selection and iteration help the program validate data and process more than one crop record.</a:t>
            </a:r>
          </a:p>
        </p:txBody>
      </p:sp>
      <p:sp>
        <p:nvSpPr>
          <p:cNvPr id="7" name="Rounded Rectangle 6"/>
          <p:cNvSpPr/>
          <p:nvPr/>
        </p:nvSpPr>
        <p:spPr>
          <a:xfrm>
            <a:off x="749808" y="2487168"/>
            <a:ext cx="3337560" cy="2331720"/>
          </a:xfrm>
          <a:prstGeom prst="roundRect">
            <a:avLst/>
          </a:prstGeom>
          <a:solidFill>
            <a:srgbClr val="FFFFFF"/>
          </a:solidFill>
          <a:ln>
            <a:solidFill>
              <a:srgbClr val="DE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49808" y="2487168"/>
            <a:ext cx="68580" cy="2331720"/>
          </a:xfrm>
          <a:prstGeom prst="rect">
            <a:avLst/>
          </a:prstGeom>
          <a:solidFill>
            <a:srgbClr val="1C9B8B"/>
          </a:solidFill>
          <a:ln>
            <a:solidFill>
              <a:srgbClr val="1C9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0976" y="2651760"/>
            <a:ext cx="2953512" cy="320040"/>
          </a:xfrm>
          <a:prstGeom prst="rect">
            <a:avLst/>
          </a:prstGeom>
          <a:noFill/>
        </p:spPr>
        <p:txBody>
          <a:bodyPr wrap="square" lIns="36576" tIns="36576" rIns="36576" bIns="36576" anchor="t">
            <a:spAutoFit/>
          </a:bodyPr>
          <a:lstStyle/>
          <a:p>
            <a:pPr>
              <a:spcAft>
                <a:spcPts val="400"/>
              </a:spcAft>
            </a:pPr>
            <a:r>
              <a:rPr sz="1700" b="1" i="0">
                <a:solidFill>
                  <a:srgbClr val="132238"/>
                </a:solidFill>
                <a:latin typeface="Aptos"/>
              </a:rPr>
              <a:t>01  Selection</a:t>
            </a:r>
          </a:p>
        </p:txBody>
      </p:sp>
      <p:sp>
        <p:nvSpPr>
          <p:cNvPr id="10" name="TextBox 9"/>
          <p:cNvSpPr txBox="1"/>
          <p:nvPr/>
        </p:nvSpPr>
        <p:spPr>
          <a:xfrm>
            <a:off x="950976" y="3108960"/>
            <a:ext cx="2953512" cy="1563624"/>
          </a:xfrm>
          <a:prstGeom prst="rect">
            <a:avLst/>
          </a:prstGeom>
          <a:noFill/>
        </p:spPr>
        <p:txBody>
          <a:bodyPr wrap="square" lIns="36576" tIns="36576" rIns="36576" bIns="36576" anchor="t">
            <a:spAutoFit/>
          </a:bodyPr>
          <a:lstStyle/>
          <a:p>
            <a:pPr>
              <a:spcAft>
                <a:spcPts val="400"/>
              </a:spcAft>
            </a:pPr>
            <a:r>
              <a:rPr sz="1500" b="0" i="0">
                <a:solidFill>
                  <a:srgbClr val="132238"/>
                </a:solidFill>
                <a:latin typeface="Aptos"/>
              </a:rPr>
              <a:t>if / else checks conditions.
Reject negative price or quantity.
switch can handle menu choices.</a:t>
            </a:r>
          </a:p>
        </p:txBody>
      </p:sp>
      <p:sp>
        <p:nvSpPr>
          <p:cNvPr id="11" name="Rounded Rectangle 10"/>
          <p:cNvSpPr/>
          <p:nvPr/>
        </p:nvSpPr>
        <p:spPr>
          <a:xfrm>
            <a:off x="4434840" y="2487168"/>
            <a:ext cx="3337560" cy="2331720"/>
          </a:xfrm>
          <a:prstGeom prst="roundRect">
            <a:avLst/>
          </a:prstGeom>
          <a:solidFill>
            <a:srgbClr val="FFFFFF"/>
          </a:solidFill>
          <a:ln>
            <a:solidFill>
              <a:srgbClr val="DE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34840" y="2487168"/>
            <a:ext cx="68580" cy="2331720"/>
          </a:xfrm>
          <a:prstGeom prst="rect">
            <a:avLst/>
          </a:prstGeom>
          <a:solidFill>
            <a:srgbClr val="F4BC59"/>
          </a:solidFill>
          <a:ln>
            <a:solidFill>
              <a:srgbClr val="F4B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36007" y="2651760"/>
            <a:ext cx="2953512" cy="320040"/>
          </a:xfrm>
          <a:prstGeom prst="rect">
            <a:avLst/>
          </a:prstGeom>
          <a:noFill/>
        </p:spPr>
        <p:txBody>
          <a:bodyPr wrap="square" lIns="36576" tIns="36576" rIns="36576" bIns="36576" anchor="t">
            <a:spAutoFit/>
          </a:bodyPr>
          <a:lstStyle/>
          <a:p>
            <a:pPr>
              <a:spcAft>
                <a:spcPts val="400"/>
              </a:spcAft>
            </a:pPr>
            <a:r>
              <a:rPr sz="1700" b="1" i="0">
                <a:solidFill>
                  <a:srgbClr val="132238"/>
                </a:solidFill>
                <a:latin typeface="Aptos"/>
              </a:rPr>
              <a:t>02  Iteration</a:t>
            </a:r>
          </a:p>
        </p:txBody>
      </p:sp>
      <p:sp>
        <p:nvSpPr>
          <p:cNvPr id="14" name="TextBox 13"/>
          <p:cNvSpPr txBox="1"/>
          <p:nvPr/>
        </p:nvSpPr>
        <p:spPr>
          <a:xfrm>
            <a:off x="4636007" y="3108960"/>
            <a:ext cx="2953512" cy="1563624"/>
          </a:xfrm>
          <a:prstGeom prst="rect">
            <a:avLst/>
          </a:prstGeom>
          <a:noFill/>
        </p:spPr>
        <p:txBody>
          <a:bodyPr wrap="square" lIns="36576" tIns="36576" rIns="36576" bIns="36576" anchor="t">
            <a:spAutoFit/>
          </a:bodyPr>
          <a:lstStyle/>
          <a:p>
            <a:pPr>
              <a:spcAft>
                <a:spcPts val="400"/>
              </a:spcAft>
            </a:pPr>
            <a:r>
              <a:rPr sz="1500" b="0" i="0">
                <a:solidFill>
                  <a:srgbClr val="132238"/>
                </a:solidFill>
                <a:latin typeface="Aptos"/>
              </a:rPr>
              <a:t>for, while, or do-while can repeat record entry.
A loop supports multiple sales.</a:t>
            </a:r>
          </a:p>
        </p:txBody>
      </p:sp>
      <p:sp>
        <p:nvSpPr>
          <p:cNvPr id="15" name="Rounded Rectangle 14"/>
          <p:cNvSpPr/>
          <p:nvPr/>
        </p:nvSpPr>
        <p:spPr>
          <a:xfrm>
            <a:off x="8119872" y="2487168"/>
            <a:ext cx="3337560" cy="2331720"/>
          </a:xfrm>
          <a:prstGeom prst="roundRect">
            <a:avLst/>
          </a:prstGeom>
          <a:solidFill>
            <a:srgbClr val="FFFFFF"/>
          </a:solidFill>
          <a:ln>
            <a:solidFill>
              <a:srgbClr val="DE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19872" y="2487168"/>
            <a:ext cx="68580" cy="2331720"/>
          </a:xfrm>
          <a:prstGeom prst="rect">
            <a:avLst/>
          </a:prstGeom>
          <a:solidFill>
            <a:srgbClr val="EB7E66"/>
          </a:solidFill>
          <a:ln>
            <a:solidFill>
              <a:srgbClr val="EB7E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21040" y="2651760"/>
            <a:ext cx="2953512" cy="320040"/>
          </a:xfrm>
          <a:prstGeom prst="rect">
            <a:avLst/>
          </a:prstGeom>
          <a:noFill/>
        </p:spPr>
        <p:txBody>
          <a:bodyPr wrap="square" lIns="36576" tIns="36576" rIns="36576" bIns="36576" anchor="t">
            <a:spAutoFit/>
          </a:bodyPr>
          <a:lstStyle/>
          <a:p>
            <a:pPr>
              <a:spcAft>
                <a:spcPts val="400"/>
              </a:spcAft>
            </a:pPr>
            <a:r>
              <a:rPr sz="1700" b="1" i="0">
                <a:solidFill>
                  <a:srgbClr val="132238"/>
                </a:solidFill>
                <a:latin typeface="Aptos"/>
              </a:rPr>
              <a:t>03  Termination</a:t>
            </a:r>
          </a:p>
        </p:txBody>
      </p:sp>
      <p:sp>
        <p:nvSpPr>
          <p:cNvPr id="18" name="TextBox 17"/>
          <p:cNvSpPr txBox="1"/>
          <p:nvPr/>
        </p:nvSpPr>
        <p:spPr>
          <a:xfrm>
            <a:off x="8321040" y="3108960"/>
            <a:ext cx="2953512" cy="1563624"/>
          </a:xfrm>
          <a:prstGeom prst="rect">
            <a:avLst/>
          </a:prstGeom>
          <a:noFill/>
        </p:spPr>
        <p:txBody>
          <a:bodyPr wrap="square" lIns="36576" tIns="36576" rIns="36576" bIns="36576" anchor="t">
            <a:spAutoFit/>
          </a:bodyPr>
          <a:lstStyle/>
          <a:p>
            <a:pPr>
              <a:spcAft>
                <a:spcPts val="400"/>
              </a:spcAft>
            </a:pPr>
            <a:r>
              <a:rPr sz="1500" b="0" i="0">
                <a:solidFill>
                  <a:srgbClr val="132238"/>
                </a:solidFill>
                <a:latin typeface="Aptos"/>
              </a:rPr>
              <a:t>Use a clear exit condition.
Update loop state correctly.
Prevent accidental infinite loops.</a:t>
            </a:r>
          </a:p>
        </p:txBody>
      </p:sp>
      <p:sp>
        <p:nvSpPr>
          <p:cNvPr id="19" name="Rounded Rectangle 18"/>
          <p:cNvSpPr/>
          <p:nvPr/>
        </p:nvSpPr>
        <p:spPr>
          <a:xfrm>
            <a:off x="777240" y="5166360"/>
            <a:ext cx="6720840" cy="960120"/>
          </a:xfrm>
          <a:prstGeom prst="roundRect">
            <a:avLst/>
          </a:prstGeom>
          <a:solidFill>
            <a:srgbClr val="0D192A"/>
          </a:solidFill>
          <a:ln>
            <a:solidFill>
              <a:srgbClr val="0D19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78408" y="5312664"/>
            <a:ext cx="6318503" cy="685800"/>
          </a:xfrm>
          <a:prstGeom prst="rect">
            <a:avLst/>
          </a:prstGeom>
          <a:noFill/>
        </p:spPr>
        <p:txBody>
          <a:bodyPr wrap="square" lIns="18288" tIns="18288" rIns="18288" bIns="18288" anchor="t">
            <a:spAutoFit/>
          </a:bodyPr>
          <a:lstStyle/>
          <a:p>
            <a:pPr>
              <a:spcAft>
                <a:spcPts val="400"/>
              </a:spcAft>
            </a:pPr>
            <a:r>
              <a:rPr sz="1300" b="0" i="0">
                <a:solidFill>
                  <a:srgbClr val="D8EDE7"/>
                </a:solidFill>
                <a:latin typeface="Consolas"/>
              </a:rPr>
              <a:t>if (price &lt; 0 || quantity &lt; 0) {
    System.out.println("Values cannot be negative");
}</a:t>
            </a:r>
          </a:p>
        </p:txBody>
      </p:sp>
      <p:sp>
        <p:nvSpPr>
          <p:cNvPr id="21" name="TextBox 20"/>
          <p:cNvSpPr txBox="1"/>
          <p:nvPr/>
        </p:nvSpPr>
        <p:spPr>
          <a:xfrm>
            <a:off x="7909560" y="5413248"/>
            <a:ext cx="2286000" cy="274320"/>
          </a:xfrm>
          <a:prstGeom prst="rect">
            <a:avLst/>
          </a:prstGeom>
          <a:noFill/>
        </p:spPr>
        <p:txBody>
          <a:bodyPr wrap="square" lIns="36576" tIns="36576" rIns="36576" bIns="36576" anchor="t">
            <a:spAutoFit/>
          </a:bodyPr>
          <a:lstStyle/>
          <a:p>
            <a:pPr>
              <a:spcAft>
                <a:spcPts val="400"/>
              </a:spcAft>
            </a:pPr>
            <a:r>
              <a:rPr sz="1400" b="1" i="0">
                <a:solidFill>
                  <a:srgbClr val="5E6D7E"/>
                </a:solidFill>
                <a:latin typeface="Aptos"/>
              </a:rPr>
              <a:t>Validation example</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8"/>
        </a:solidFill>
        <a:effectLst/>
      </p:bgPr>
    </p:bg>
    <p:spTree>
      <p:nvGrpSpPr>
        <p:cNvPr id="1" name=""/>
        <p:cNvGrpSpPr/>
        <p:nvPr/>
      </p:nvGrpSpPr>
      <p:grpSpPr>
        <a:xfrm>
          <a:off x="0" y="0"/>
          <a:ext cx="0" cy="0"/>
          <a:chOff x="0" y="0"/>
          <a:chExt cx="0" cy="0"/>
        </a:xfrm>
      </p:grpSpPr>
      <p:sp>
        <p:nvSpPr>
          <p:cNvPr id="2" name="TextBox 1"/>
          <p:cNvSpPr txBox="1"/>
          <p:nvPr/>
        </p:nvSpPr>
        <p:spPr>
          <a:xfrm>
            <a:off x="658368" y="292608"/>
            <a:ext cx="9875520" cy="228600"/>
          </a:xfrm>
          <a:prstGeom prst="rect">
            <a:avLst/>
          </a:prstGeom>
          <a:noFill/>
        </p:spPr>
        <p:txBody>
          <a:bodyPr wrap="square" lIns="36576" tIns="36576" rIns="36576" bIns="36576" anchor="t">
            <a:spAutoFit/>
          </a:bodyPr>
          <a:lstStyle/>
          <a:p>
            <a:pPr>
              <a:spcAft>
                <a:spcPts val="400"/>
              </a:spcAft>
            </a:pPr>
            <a:r>
              <a:rPr sz="1000" b="1" i="0">
                <a:solidFill>
                  <a:srgbClr val="1C9B8B"/>
                </a:solidFill>
                <a:latin typeface="Aptos"/>
              </a:rPr>
              <a:t>CO3  •  BTL4  •  ANALYZE</a:t>
            </a:r>
          </a:p>
        </p:txBody>
      </p:sp>
      <p:sp>
        <p:nvSpPr>
          <p:cNvPr id="3" name="TextBox 2"/>
          <p:cNvSpPr txBox="1"/>
          <p:nvPr/>
        </p:nvSpPr>
        <p:spPr>
          <a:xfrm>
            <a:off x="658368" y="658368"/>
            <a:ext cx="10789920" cy="530352"/>
          </a:xfrm>
          <a:prstGeom prst="rect">
            <a:avLst/>
          </a:prstGeom>
          <a:noFill/>
        </p:spPr>
        <p:txBody>
          <a:bodyPr wrap="square" lIns="36576" tIns="36576" rIns="36576" bIns="36576" anchor="t">
            <a:spAutoFit/>
          </a:bodyPr>
          <a:lstStyle/>
          <a:p>
            <a:pPr>
              <a:spcAft>
                <a:spcPts val="400"/>
              </a:spcAft>
            </a:pPr>
            <a:r>
              <a:rPr sz="2800" b="1" i="0">
                <a:solidFill>
                  <a:srgbClr val="132238"/>
                </a:solidFill>
                <a:latin typeface="Aptos"/>
              </a:rPr>
              <a:t>Methods, Recursion &amp; Arrays</a:t>
            </a:r>
          </a:p>
        </p:txBody>
      </p:sp>
      <p:sp>
        <p:nvSpPr>
          <p:cNvPr id="4" name="Rectangle 3"/>
          <p:cNvSpPr/>
          <p:nvPr/>
        </p:nvSpPr>
        <p:spPr>
          <a:xfrm>
            <a:off x="667512" y="1298448"/>
            <a:ext cx="777240" cy="50292"/>
          </a:xfrm>
          <a:prstGeom prst="rect">
            <a:avLst/>
          </a:prstGeom>
          <a:solidFill>
            <a:srgbClr val="1C9B8B"/>
          </a:solidFill>
          <a:ln>
            <a:solidFill>
              <a:srgbClr val="1C9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744200" y="6473952"/>
            <a:ext cx="822960" cy="182880"/>
          </a:xfrm>
          <a:prstGeom prst="rect">
            <a:avLst/>
          </a:prstGeom>
          <a:noFill/>
        </p:spPr>
        <p:txBody>
          <a:bodyPr wrap="square" lIns="36576" tIns="36576" rIns="36576" bIns="36576" anchor="t">
            <a:spAutoFit/>
          </a:bodyPr>
          <a:lstStyle/>
          <a:p>
            <a:pPr algn="r">
              <a:spcAft>
                <a:spcPts val="400"/>
              </a:spcAft>
            </a:pPr>
            <a:r>
              <a:rPr sz="900" b="0" i="0">
                <a:solidFill>
                  <a:srgbClr val="5E6D7E"/>
                </a:solidFill>
                <a:latin typeface="Aptos"/>
              </a:rPr>
              <a:t>05  /  12</a:t>
            </a:r>
          </a:p>
        </p:txBody>
      </p:sp>
      <p:sp>
        <p:nvSpPr>
          <p:cNvPr id="6" name="TextBox 5"/>
          <p:cNvSpPr txBox="1"/>
          <p:nvPr/>
        </p:nvSpPr>
        <p:spPr>
          <a:xfrm>
            <a:off x="749808" y="1627632"/>
            <a:ext cx="10607040" cy="530352"/>
          </a:xfrm>
          <a:prstGeom prst="rect">
            <a:avLst/>
          </a:prstGeom>
          <a:noFill/>
        </p:spPr>
        <p:txBody>
          <a:bodyPr wrap="square" lIns="36576" tIns="36576" rIns="36576" bIns="36576" anchor="t">
            <a:spAutoFit/>
          </a:bodyPr>
          <a:lstStyle/>
          <a:p>
            <a:pPr>
              <a:spcAft>
                <a:spcPts val="400"/>
              </a:spcAft>
            </a:pPr>
            <a:r>
              <a:rPr sz="1900" b="1" i="0">
                <a:solidFill>
                  <a:srgbClr val="132238"/>
                </a:solidFill>
                <a:latin typeface="Aptos"/>
              </a:rPr>
              <a:t>Modularise the logic and scale from a single sale to a collection of crop records.</a:t>
            </a:r>
          </a:p>
        </p:txBody>
      </p:sp>
      <p:sp>
        <p:nvSpPr>
          <p:cNvPr id="7" name="Rounded Rectangle 6"/>
          <p:cNvSpPr/>
          <p:nvPr/>
        </p:nvSpPr>
        <p:spPr>
          <a:xfrm>
            <a:off x="749808" y="2423160"/>
            <a:ext cx="3337560" cy="2423160"/>
          </a:xfrm>
          <a:prstGeom prst="roundRect">
            <a:avLst/>
          </a:prstGeom>
          <a:solidFill>
            <a:srgbClr val="FFFFFF"/>
          </a:solidFill>
          <a:ln>
            <a:solidFill>
              <a:srgbClr val="DE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49808" y="2423160"/>
            <a:ext cx="68580" cy="2423160"/>
          </a:xfrm>
          <a:prstGeom prst="rect">
            <a:avLst/>
          </a:prstGeom>
          <a:solidFill>
            <a:srgbClr val="1C9B8B"/>
          </a:solidFill>
          <a:ln>
            <a:solidFill>
              <a:srgbClr val="1C9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0976" y="2587752"/>
            <a:ext cx="2953512" cy="320040"/>
          </a:xfrm>
          <a:prstGeom prst="rect">
            <a:avLst/>
          </a:prstGeom>
          <a:noFill/>
        </p:spPr>
        <p:txBody>
          <a:bodyPr wrap="square" lIns="36576" tIns="36576" rIns="36576" bIns="36576" anchor="t">
            <a:spAutoFit/>
          </a:bodyPr>
          <a:lstStyle/>
          <a:p>
            <a:pPr>
              <a:spcAft>
                <a:spcPts val="400"/>
              </a:spcAft>
            </a:pPr>
            <a:r>
              <a:rPr sz="1700" b="1" i="0">
                <a:solidFill>
                  <a:srgbClr val="132238"/>
                </a:solidFill>
                <a:latin typeface="Aptos"/>
              </a:rPr>
              <a:t>Methods</a:t>
            </a:r>
          </a:p>
        </p:txBody>
      </p:sp>
      <p:sp>
        <p:nvSpPr>
          <p:cNvPr id="10" name="TextBox 9"/>
          <p:cNvSpPr txBox="1"/>
          <p:nvPr/>
        </p:nvSpPr>
        <p:spPr>
          <a:xfrm>
            <a:off x="950976" y="3044952"/>
            <a:ext cx="2953512" cy="1655064"/>
          </a:xfrm>
          <a:prstGeom prst="rect">
            <a:avLst/>
          </a:prstGeom>
          <a:noFill/>
        </p:spPr>
        <p:txBody>
          <a:bodyPr wrap="square" lIns="36576" tIns="36576" rIns="36576" bIns="36576" anchor="t">
            <a:spAutoFit/>
          </a:bodyPr>
          <a:lstStyle/>
          <a:p>
            <a:pPr>
              <a:spcAft>
                <a:spcPts val="400"/>
              </a:spcAft>
            </a:pPr>
            <a:r>
              <a:rPr sz="1500" b="0" i="0">
                <a:solidFill>
                  <a:srgbClr val="132238"/>
                </a:solidFill>
                <a:latin typeface="Aptos"/>
              </a:rPr>
              <a:t>calculateSales(price, quantity)
Reusable methods reduce duplication and make testing easier.</a:t>
            </a:r>
          </a:p>
        </p:txBody>
      </p:sp>
      <p:sp>
        <p:nvSpPr>
          <p:cNvPr id="11" name="Rounded Rectangle 10"/>
          <p:cNvSpPr/>
          <p:nvPr/>
        </p:nvSpPr>
        <p:spPr>
          <a:xfrm>
            <a:off x="4434840" y="2423160"/>
            <a:ext cx="3337560" cy="2423160"/>
          </a:xfrm>
          <a:prstGeom prst="roundRect">
            <a:avLst/>
          </a:prstGeom>
          <a:solidFill>
            <a:srgbClr val="FFFFFF"/>
          </a:solidFill>
          <a:ln>
            <a:solidFill>
              <a:srgbClr val="DE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34840" y="2423160"/>
            <a:ext cx="68580" cy="2423160"/>
          </a:xfrm>
          <a:prstGeom prst="rect">
            <a:avLst/>
          </a:prstGeom>
          <a:solidFill>
            <a:srgbClr val="F4BC59"/>
          </a:solidFill>
          <a:ln>
            <a:solidFill>
              <a:srgbClr val="F4B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36007" y="2587752"/>
            <a:ext cx="2953512" cy="320040"/>
          </a:xfrm>
          <a:prstGeom prst="rect">
            <a:avLst/>
          </a:prstGeom>
          <a:noFill/>
        </p:spPr>
        <p:txBody>
          <a:bodyPr wrap="square" lIns="36576" tIns="36576" rIns="36576" bIns="36576" anchor="t">
            <a:spAutoFit/>
          </a:bodyPr>
          <a:lstStyle/>
          <a:p>
            <a:pPr>
              <a:spcAft>
                <a:spcPts val="400"/>
              </a:spcAft>
            </a:pPr>
            <a:r>
              <a:rPr sz="1700" b="1" i="0">
                <a:solidFill>
                  <a:srgbClr val="132238"/>
                </a:solidFill>
                <a:latin typeface="Aptos"/>
              </a:rPr>
              <a:t>1-D &amp; 2-D arrays</a:t>
            </a:r>
          </a:p>
        </p:txBody>
      </p:sp>
      <p:sp>
        <p:nvSpPr>
          <p:cNvPr id="14" name="TextBox 13"/>
          <p:cNvSpPr txBox="1"/>
          <p:nvPr/>
        </p:nvSpPr>
        <p:spPr>
          <a:xfrm>
            <a:off x="4636007" y="3044952"/>
            <a:ext cx="2953512" cy="1655064"/>
          </a:xfrm>
          <a:prstGeom prst="rect">
            <a:avLst/>
          </a:prstGeom>
          <a:noFill/>
        </p:spPr>
        <p:txBody>
          <a:bodyPr wrap="square" lIns="36576" tIns="36576" rIns="36576" bIns="36576" anchor="t">
            <a:spAutoFit/>
          </a:bodyPr>
          <a:lstStyle/>
          <a:p>
            <a:pPr>
              <a:spcAft>
                <a:spcPts val="400"/>
              </a:spcAft>
            </a:pPr>
            <a:r>
              <a:rPr sz="1500" b="0" i="0">
                <a:solidFill>
                  <a:srgbClr val="132238"/>
                </a:solidFill>
                <a:latin typeface="Aptos"/>
              </a:rPr>
              <a:t>1-D: store prices or quantities.
2-D: represent rows and columns of records.</a:t>
            </a:r>
          </a:p>
        </p:txBody>
      </p:sp>
      <p:sp>
        <p:nvSpPr>
          <p:cNvPr id="15" name="Rounded Rectangle 14"/>
          <p:cNvSpPr/>
          <p:nvPr/>
        </p:nvSpPr>
        <p:spPr>
          <a:xfrm>
            <a:off x="8119872" y="2423160"/>
            <a:ext cx="3337560" cy="2423160"/>
          </a:xfrm>
          <a:prstGeom prst="roundRect">
            <a:avLst/>
          </a:prstGeom>
          <a:solidFill>
            <a:srgbClr val="FFFFFF"/>
          </a:solidFill>
          <a:ln>
            <a:solidFill>
              <a:srgbClr val="DE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19872" y="2423160"/>
            <a:ext cx="68580" cy="2423160"/>
          </a:xfrm>
          <a:prstGeom prst="rect">
            <a:avLst/>
          </a:prstGeom>
          <a:solidFill>
            <a:srgbClr val="5E96D3"/>
          </a:solidFill>
          <a:ln>
            <a:solidFill>
              <a:srgbClr val="5E96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21040" y="2587752"/>
            <a:ext cx="2953512" cy="320040"/>
          </a:xfrm>
          <a:prstGeom prst="rect">
            <a:avLst/>
          </a:prstGeom>
          <a:noFill/>
        </p:spPr>
        <p:txBody>
          <a:bodyPr wrap="square" lIns="36576" tIns="36576" rIns="36576" bIns="36576" anchor="t">
            <a:spAutoFit/>
          </a:bodyPr>
          <a:lstStyle/>
          <a:p>
            <a:pPr>
              <a:spcAft>
                <a:spcPts val="400"/>
              </a:spcAft>
            </a:pPr>
            <a:r>
              <a:rPr sz="1700" b="1" i="0">
                <a:solidFill>
                  <a:srgbClr val="132238"/>
                </a:solidFill>
                <a:latin typeface="Aptos"/>
              </a:rPr>
              <a:t>Recursion &amp; patterns</a:t>
            </a:r>
          </a:p>
        </p:txBody>
      </p:sp>
      <p:sp>
        <p:nvSpPr>
          <p:cNvPr id="18" name="TextBox 17"/>
          <p:cNvSpPr txBox="1"/>
          <p:nvPr/>
        </p:nvSpPr>
        <p:spPr>
          <a:xfrm>
            <a:off x="8321040" y="3044952"/>
            <a:ext cx="2953512" cy="1655064"/>
          </a:xfrm>
          <a:prstGeom prst="rect">
            <a:avLst/>
          </a:prstGeom>
          <a:noFill/>
        </p:spPr>
        <p:txBody>
          <a:bodyPr wrap="square" lIns="36576" tIns="36576" rIns="36576" bIns="36576" anchor="t">
            <a:spAutoFit/>
          </a:bodyPr>
          <a:lstStyle/>
          <a:p>
            <a:pPr>
              <a:spcAft>
                <a:spcPts val="400"/>
              </a:spcAft>
            </a:pPr>
            <a:r>
              <a:rPr sz="1500" b="0" i="0">
                <a:solidFill>
                  <a:srgbClr val="132238"/>
                </a:solidFill>
                <a:latin typeface="Aptos"/>
              </a:rPr>
              <a:t>Recursion solves suitable self-similar tasks.
Traverse arrays, search records, and sort values.</a:t>
            </a:r>
          </a:p>
        </p:txBody>
      </p:sp>
      <p:sp>
        <p:nvSpPr>
          <p:cNvPr id="19" name="TextBox 18"/>
          <p:cNvSpPr txBox="1"/>
          <p:nvPr/>
        </p:nvSpPr>
        <p:spPr>
          <a:xfrm>
            <a:off x="822960" y="5349240"/>
            <a:ext cx="10515600" cy="411480"/>
          </a:xfrm>
          <a:prstGeom prst="rect">
            <a:avLst/>
          </a:prstGeom>
          <a:noFill/>
        </p:spPr>
        <p:txBody>
          <a:bodyPr wrap="square" lIns="36576" tIns="36576" rIns="36576" bIns="36576" anchor="t">
            <a:spAutoFit/>
          </a:bodyPr>
          <a:lstStyle/>
          <a:p>
            <a:pPr>
              <a:spcAft>
                <a:spcPts val="400"/>
              </a:spcAft>
            </a:pPr>
            <a:r>
              <a:rPr sz="1600" b="0" i="0">
                <a:solidFill>
                  <a:srgbClr val="5E6D7E"/>
                </a:solidFill>
                <a:latin typeface="Aptos"/>
              </a:rPr>
              <a:t>Possible analysis: calculate totals, find the highest sale, and sort crops by price.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8"/>
        </a:solidFill>
        <a:effectLst/>
      </p:bgPr>
    </p:bg>
    <p:spTree>
      <p:nvGrpSpPr>
        <p:cNvPr id="1" name=""/>
        <p:cNvGrpSpPr/>
        <p:nvPr/>
      </p:nvGrpSpPr>
      <p:grpSpPr>
        <a:xfrm>
          <a:off x="0" y="0"/>
          <a:ext cx="0" cy="0"/>
          <a:chOff x="0" y="0"/>
          <a:chExt cx="0" cy="0"/>
        </a:xfrm>
      </p:grpSpPr>
      <p:sp>
        <p:nvSpPr>
          <p:cNvPr id="2" name="TextBox 1"/>
          <p:cNvSpPr txBox="1"/>
          <p:nvPr/>
        </p:nvSpPr>
        <p:spPr>
          <a:xfrm>
            <a:off x="658368" y="292608"/>
            <a:ext cx="9875520" cy="228600"/>
          </a:xfrm>
          <a:prstGeom prst="rect">
            <a:avLst/>
          </a:prstGeom>
          <a:noFill/>
        </p:spPr>
        <p:txBody>
          <a:bodyPr wrap="square" lIns="36576" tIns="36576" rIns="36576" bIns="36576" anchor="t">
            <a:spAutoFit/>
          </a:bodyPr>
          <a:lstStyle/>
          <a:p>
            <a:pPr>
              <a:spcAft>
                <a:spcPts val="400"/>
              </a:spcAft>
            </a:pPr>
            <a:r>
              <a:rPr sz="1000" b="1" i="0">
                <a:solidFill>
                  <a:srgbClr val="1C9B8B"/>
                </a:solidFill>
                <a:latin typeface="Aptos"/>
              </a:rPr>
              <a:t>CO4  •  BTL6  •  CREATE</a:t>
            </a:r>
          </a:p>
        </p:txBody>
      </p:sp>
      <p:sp>
        <p:nvSpPr>
          <p:cNvPr id="3" name="TextBox 2"/>
          <p:cNvSpPr txBox="1"/>
          <p:nvPr/>
        </p:nvSpPr>
        <p:spPr>
          <a:xfrm>
            <a:off x="658368" y="658368"/>
            <a:ext cx="10789920" cy="530352"/>
          </a:xfrm>
          <a:prstGeom prst="rect">
            <a:avLst/>
          </a:prstGeom>
          <a:noFill/>
        </p:spPr>
        <p:txBody>
          <a:bodyPr wrap="square" lIns="36576" tIns="36576" rIns="36576" bIns="36576" anchor="t">
            <a:spAutoFit/>
          </a:bodyPr>
          <a:lstStyle/>
          <a:p>
            <a:pPr>
              <a:spcAft>
                <a:spcPts val="400"/>
              </a:spcAft>
            </a:pPr>
            <a:r>
              <a:rPr sz="2800" b="1" i="0">
                <a:solidFill>
                  <a:srgbClr val="132238"/>
                </a:solidFill>
                <a:latin typeface="Aptos"/>
              </a:rPr>
              <a:t>Objects That Fail Safely</a:t>
            </a:r>
          </a:p>
        </p:txBody>
      </p:sp>
      <p:sp>
        <p:nvSpPr>
          <p:cNvPr id="4" name="Rectangle 3"/>
          <p:cNvSpPr/>
          <p:nvPr/>
        </p:nvSpPr>
        <p:spPr>
          <a:xfrm>
            <a:off x="667512" y="1298448"/>
            <a:ext cx="777240" cy="50292"/>
          </a:xfrm>
          <a:prstGeom prst="rect">
            <a:avLst/>
          </a:prstGeom>
          <a:solidFill>
            <a:srgbClr val="1C9B8B"/>
          </a:solidFill>
          <a:ln>
            <a:solidFill>
              <a:srgbClr val="1C9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744200" y="6473952"/>
            <a:ext cx="822960" cy="182880"/>
          </a:xfrm>
          <a:prstGeom prst="rect">
            <a:avLst/>
          </a:prstGeom>
          <a:noFill/>
        </p:spPr>
        <p:txBody>
          <a:bodyPr wrap="square" lIns="36576" tIns="36576" rIns="36576" bIns="36576" anchor="t">
            <a:spAutoFit/>
          </a:bodyPr>
          <a:lstStyle/>
          <a:p>
            <a:pPr algn="r">
              <a:spcAft>
                <a:spcPts val="400"/>
              </a:spcAft>
            </a:pPr>
            <a:r>
              <a:rPr sz="900" b="0" i="0">
                <a:solidFill>
                  <a:srgbClr val="5E6D7E"/>
                </a:solidFill>
                <a:latin typeface="Aptos"/>
              </a:rPr>
              <a:t>06  /  12</a:t>
            </a:r>
          </a:p>
        </p:txBody>
      </p:sp>
      <p:sp>
        <p:nvSpPr>
          <p:cNvPr id="6" name="TextBox 5"/>
          <p:cNvSpPr txBox="1"/>
          <p:nvPr/>
        </p:nvSpPr>
        <p:spPr>
          <a:xfrm>
            <a:off x="749808" y="1627632"/>
            <a:ext cx="10607040" cy="530352"/>
          </a:xfrm>
          <a:prstGeom prst="rect">
            <a:avLst/>
          </a:prstGeom>
          <a:noFill/>
        </p:spPr>
        <p:txBody>
          <a:bodyPr wrap="square" lIns="36576" tIns="36576" rIns="36576" bIns="36576" anchor="t">
            <a:spAutoFit/>
          </a:bodyPr>
          <a:lstStyle/>
          <a:p>
            <a:pPr>
              <a:spcAft>
                <a:spcPts val="400"/>
              </a:spcAft>
            </a:pPr>
            <a:r>
              <a:rPr sz="2000" b="1" i="0">
                <a:solidFill>
                  <a:srgbClr val="132238"/>
                </a:solidFill>
                <a:latin typeface="Aptos"/>
              </a:rPr>
              <a:t>Model a sale as an object and handle invalid input in a controlled way.</a:t>
            </a:r>
          </a:p>
        </p:txBody>
      </p:sp>
      <p:sp>
        <p:nvSpPr>
          <p:cNvPr id="7" name="Rounded Rectangle 6"/>
          <p:cNvSpPr/>
          <p:nvPr/>
        </p:nvSpPr>
        <p:spPr>
          <a:xfrm>
            <a:off x="749808" y="2395728"/>
            <a:ext cx="5166360" cy="2560320"/>
          </a:xfrm>
          <a:prstGeom prst="roundRect">
            <a:avLst/>
          </a:prstGeom>
          <a:solidFill>
            <a:srgbClr val="FFFFFF"/>
          </a:solidFill>
          <a:ln>
            <a:solidFill>
              <a:srgbClr val="DE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49808" y="2395728"/>
            <a:ext cx="68580" cy="2560320"/>
          </a:xfrm>
          <a:prstGeom prst="rect">
            <a:avLst/>
          </a:prstGeom>
          <a:solidFill>
            <a:srgbClr val="1C9B8B"/>
          </a:solidFill>
          <a:ln>
            <a:solidFill>
              <a:srgbClr val="1C9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0976" y="2560320"/>
            <a:ext cx="4782312" cy="320040"/>
          </a:xfrm>
          <a:prstGeom prst="rect">
            <a:avLst/>
          </a:prstGeom>
          <a:noFill/>
        </p:spPr>
        <p:txBody>
          <a:bodyPr wrap="square" lIns="36576" tIns="36576" rIns="36576" bIns="36576" anchor="t">
            <a:spAutoFit/>
          </a:bodyPr>
          <a:lstStyle/>
          <a:p>
            <a:pPr>
              <a:spcAft>
                <a:spcPts val="400"/>
              </a:spcAft>
            </a:pPr>
            <a:r>
              <a:rPr sz="1700" b="1" i="0">
                <a:solidFill>
                  <a:srgbClr val="132238"/>
                </a:solidFill>
                <a:latin typeface="Aptos"/>
              </a:rPr>
              <a:t>Object-oriented model</a:t>
            </a:r>
          </a:p>
        </p:txBody>
      </p:sp>
      <p:sp>
        <p:nvSpPr>
          <p:cNvPr id="10" name="TextBox 9"/>
          <p:cNvSpPr txBox="1"/>
          <p:nvPr/>
        </p:nvSpPr>
        <p:spPr>
          <a:xfrm>
            <a:off x="950976" y="3017520"/>
            <a:ext cx="4782312" cy="1792224"/>
          </a:xfrm>
          <a:prstGeom prst="rect">
            <a:avLst/>
          </a:prstGeom>
          <a:noFill/>
        </p:spPr>
        <p:txBody>
          <a:bodyPr wrap="square" lIns="36576" tIns="36576" rIns="36576" bIns="36576" anchor="t">
            <a:spAutoFit/>
          </a:bodyPr>
          <a:lstStyle/>
          <a:p>
            <a:pPr>
              <a:spcAft>
                <a:spcPts val="400"/>
              </a:spcAft>
            </a:pPr>
            <a:r>
              <a:rPr sz="1500" b="0" i="0">
                <a:solidFill>
                  <a:srgbClr val="132238"/>
                </a:solidFill>
                <a:latin typeface="Aptos"/>
              </a:rPr>
              <a:t>Class: CropSale
Fields: cropName, pricePerKg, quantity
Methods: calculateTotal(), displayReport()
Encapsulation: keep fields private.</a:t>
            </a:r>
          </a:p>
        </p:txBody>
      </p:sp>
      <p:sp>
        <p:nvSpPr>
          <p:cNvPr id="11" name="Rounded Rectangle 10"/>
          <p:cNvSpPr/>
          <p:nvPr/>
        </p:nvSpPr>
        <p:spPr>
          <a:xfrm>
            <a:off x="6236208" y="2395728"/>
            <a:ext cx="5166360" cy="2560320"/>
          </a:xfrm>
          <a:prstGeom prst="roundRect">
            <a:avLst/>
          </a:prstGeom>
          <a:solidFill>
            <a:srgbClr val="FFFFFF"/>
          </a:solidFill>
          <a:ln>
            <a:solidFill>
              <a:srgbClr val="DE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36208" y="2395728"/>
            <a:ext cx="68580" cy="2560320"/>
          </a:xfrm>
          <a:prstGeom prst="rect">
            <a:avLst/>
          </a:prstGeom>
          <a:solidFill>
            <a:srgbClr val="F4BC59"/>
          </a:solidFill>
          <a:ln>
            <a:solidFill>
              <a:srgbClr val="F4B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37376" y="2560320"/>
            <a:ext cx="4782312" cy="320040"/>
          </a:xfrm>
          <a:prstGeom prst="rect">
            <a:avLst/>
          </a:prstGeom>
          <a:noFill/>
        </p:spPr>
        <p:txBody>
          <a:bodyPr wrap="square" lIns="36576" tIns="36576" rIns="36576" bIns="36576" anchor="t">
            <a:spAutoFit/>
          </a:bodyPr>
          <a:lstStyle/>
          <a:p>
            <a:pPr>
              <a:spcAft>
                <a:spcPts val="400"/>
              </a:spcAft>
            </a:pPr>
            <a:r>
              <a:rPr sz="1700" b="1" i="0">
                <a:solidFill>
                  <a:srgbClr val="132238"/>
                </a:solidFill>
                <a:latin typeface="Aptos"/>
              </a:rPr>
              <a:t>Exception handling</a:t>
            </a:r>
          </a:p>
        </p:txBody>
      </p:sp>
      <p:sp>
        <p:nvSpPr>
          <p:cNvPr id="14" name="TextBox 13"/>
          <p:cNvSpPr txBox="1"/>
          <p:nvPr/>
        </p:nvSpPr>
        <p:spPr>
          <a:xfrm>
            <a:off x="6437376" y="3017520"/>
            <a:ext cx="4782312" cy="1792224"/>
          </a:xfrm>
          <a:prstGeom prst="rect">
            <a:avLst/>
          </a:prstGeom>
          <a:noFill/>
        </p:spPr>
        <p:txBody>
          <a:bodyPr wrap="square" lIns="36576" tIns="36576" rIns="36576" bIns="36576" anchor="t">
            <a:spAutoFit/>
          </a:bodyPr>
          <a:lstStyle/>
          <a:p>
            <a:pPr>
              <a:spcAft>
                <a:spcPts val="400"/>
              </a:spcAft>
            </a:pPr>
            <a:r>
              <a:rPr sz="1500" b="0" i="0">
                <a:solidFill>
                  <a:srgbClr val="132238"/>
                </a:solidFill>
                <a:latin typeface="Aptos"/>
              </a:rPr>
              <a:t>try-catch handles input errors.
Validate values before calculating.
finally supports cleanup when needed.
Close resources after use.</a:t>
            </a:r>
          </a:p>
        </p:txBody>
      </p:sp>
      <p:sp>
        <p:nvSpPr>
          <p:cNvPr id="15" name="Rounded Rectangle 14"/>
          <p:cNvSpPr/>
          <p:nvPr/>
        </p:nvSpPr>
        <p:spPr>
          <a:xfrm>
            <a:off x="822960" y="5349240"/>
            <a:ext cx="1234440" cy="310896"/>
          </a:xfrm>
          <a:prstGeom prst="roundRect">
            <a:avLst/>
          </a:prstGeom>
          <a:solidFill>
            <a:srgbClr val="E6F5F1"/>
          </a:solidFill>
          <a:ln>
            <a:solidFill>
              <a:srgbClr val="E6F5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77824" y="5385816"/>
            <a:ext cx="1124712" cy="201168"/>
          </a:xfrm>
          <a:prstGeom prst="rect">
            <a:avLst/>
          </a:prstGeom>
          <a:noFill/>
        </p:spPr>
        <p:txBody>
          <a:bodyPr wrap="square" lIns="36576" tIns="36576" rIns="36576" bIns="36576" anchor="t">
            <a:spAutoFit/>
          </a:bodyPr>
          <a:lstStyle/>
          <a:p>
            <a:pPr algn="ctr">
              <a:spcAft>
                <a:spcPts val="400"/>
              </a:spcAft>
            </a:pPr>
            <a:r>
              <a:rPr sz="1000" b="1" i="0">
                <a:solidFill>
                  <a:srgbClr val="1C9B8B"/>
                </a:solidFill>
                <a:latin typeface="Aptos"/>
              </a:rPr>
              <a:t>DESIGN GOAL</a:t>
            </a:r>
          </a:p>
        </p:txBody>
      </p:sp>
      <p:sp>
        <p:nvSpPr>
          <p:cNvPr id="17" name="TextBox 16"/>
          <p:cNvSpPr txBox="1"/>
          <p:nvPr/>
        </p:nvSpPr>
        <p:spPr>
          <a:xfrm>
            <a:off x="2194560" y="5349240"/>
            <a:ext cx="8686800" cy="320040"/>
          </a:xfrm>
          <a:prstGeom prst="rect">
            <a:avLst/>
          </a:prstGeom>
          <a:noFill/>
        </p:spPr>
        <p:txBody>
          <a:bodyPr wrap="square" lIns="36576" tIns="36576" rIns="36576" bIns="36576" anchor="t">
            <a:spAutoFit/>
          </a:bodyPr>
          <a:lstStyle/>
          <a:p>
            <a:pPr>
              <a:spcAft>
                <a:spcPts val="400"/>
              </a:spcAft>
            </a:pPr>
            <a:r>
              <a:rPr sz="1600" b="1" i="0">
                <a:solidFill>
                  <a:srgbClr val="1C9B8B"/>
                </a:solidFill>
                <a:latin typeface="Aptos"/>
              </a:rPr>
              <a:t>Keep records consistent, explain errors clearly, and avoid unexpected failure.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8"/>
        </a:solidFill>
        <a:effectLst/>
      </p:bgPr>
    </p:bg>
    <p:spTree>
      <p:nvGrpSpPr>
        <p:cNvPr id="1" name=""/>
        <p:cNvGrpSpPr/>
        <p:nvPr/>
      </p:nvGrpSpPr>
      <p:grpSpPr>
        <a:xfrm>
          <a:off x="0" y="0"/>
          <a:ext cx="0" cy="0"/>
          <a:chOff x="0" y="0"/>
          <a:chExt cx="0" cy="0"/>
        </a:xfrm>
      </p:grpSpPr>
      <p:sp>
        <p:nvSpPr>
          <p:cNvPr id="2" name="TextBox 1"/>
          <p:cNvSpPr txBox="1"/>
          <p:nvPr/>
        </p:nvSpPr>
        <p:spPr>
          <a:xfrm>
            <a:off x="658368" y="292608"/>
            <a:ext cx="9875520" cy="228600"/>
          </a:xfrm>
          <a:prstGeom prst="rect">
            <a:avLst/>
          </a:prstGeom>
          <a:noFill/>
        </p:spPr>
        <p:txBody>
          <a:bodyPr wrap="square" lIns="36576" tIns="36576" rIns="36576" bIns="36576" anchor="t">
            <a:spAutoFit/>
          </a:bodyPr>
          <a:lstStyle/>
          <a:p>
            <a:pPr>
              <a:spcAft>
                <a:spcPts val="400"/>
              </a:spcAft>
            </a:pPr>
            <a:r>
              <a:rPr sz="1000" b="1" i="0">
                <a:solidFill>
                  <a:srgbClr val="1C9B8B"/>
                </a:solidFill>
                <a:latin typeface="Aptos"/>
              </a:rPr>
              <a:t>CO5  •  BTL4  •  ANALYZE</a:t>
            </a:r>
          </a:p>
        </p:txBody>
      </p:sp>
      <p:sp>
        <p:nvSpPr>
          <p:cNvPr id="3" name="TextBox 2"/>
          <p:cNvSpPr txBox="1"/>
          <p:nvPr/>
        </p:nvSpPr>
        <p:spPr>
          <a:xfrm>
            <a:off x="658368" y="658368"/>
            <a:ext cx="10789920" cy="530352"/>
          </a:xfrm>
          <a:prstGeom prst="rect">
            <a:avLst/>
          </a:prstGeom>
          <a:noFill/>
        </p:spPr>
        <p:txBody>
          <a:bodyPr wrap="square" lIns="36576" tIns="36576" rIns="36576" bIns="36576" anchor="t">
            <a:spAutoFit/>
          </a:bodyPr>
          <a:lstStyle/>
          <a:p>
            <a:pPr>
              <a:spcAft>
                <a:spcPts val="400"/>
              </a:spcAft>
            </a:pPr>
            <a:r>
              <a:rPr sz="2800" b="1" i="0">
                <a:solidFill>
                  <a:srgbClr val="132238"/>
                </a:solidFill>
                <a:latin typeface="Aptos"/>
              </a:rPr>
              <a:t>Strings, Library Algorithms &amp; Files</a:t>
            </a:r>
          </a:p>
        </p:txBody>
      </p:sp>
      <p:sp>
        <p:nvSpPr>
          <p:cNvPr id="4" name="Rectangle 3"/>
          <p:cNvSpPr/>
          <p:nvPr/>
        </p:nvSpPr>
        <p:spPr>
          <a:xfrm>
            <a:off x="667512" y="1298448"/>
            <a:ext cx="777240" cy="50292"/>
          </a:xfrm>
          <a:prstGeom prst="rect">
            <a:avLst/>
          </a:prstGeom>
          <a:solidFill>
            <a:srgbClr val="1C9B8B"/>
          </a:solidFill>
          <a:ln>
            <a:solidFill>
              <a:srgbClr val="1C9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744200" y="6473952"/>
            <a:ext cx="822960" cy="182880"/>
          </a:xfrm>
          <a:prstGeom prst="rect">
            <a:avLst/>
          </a:prstGeom>
          <a:noFill/>
        </p:spPr>
        <p:txBody>
          <a:bodyPr wrap="square" lIns="36576" tIns="36576" rIns="36576" bIns="36576" anchor="t">
            <a:spAutoFit/>
          </a:bodyPr>
          <a:lstStyle/>
          <a:p>
            <a:pPr algn="r">
              <a:spcAft>
                <a:spcPts val="400"/>
              </a:spcAft>
            </a:pPr>
            <a:r>
              <a:rPr sz="900" b="0" i="0">
                <a:solidFill>
                  <a:srgbClr val="5E6D7E"/>
                </a:solidFill>
                <a:latin typeface="Aptos"/>
              </a:rPr>
              <a:t>07  /  12</a:t>
            </a:r>
          </a:p>
        </p:txBody>
      </p:sp>
      <p:sp>
        <p:nvSpPr>
          <p:cNvPr id="6" name="TextBox 5"/>
          <p:cNvSpPr txBox="1"/>
          <p:nvPr/>
        </p:nvSpPr>
        <p:spPr>
          <a:xfrm>
            <a:off x="749808" y="1627632"/>
            <a:ext cx="10607040" cy="530352"/>
          </a:xfrm>
          <a:prstGeom prst="rect">
            <a:avLst/>
          </a:prstGeom>
          <a:noFill/>
        </p:spPr>
        <p:txBody>
          <a:bodyPr wrap="square" lIns="36576" tIns="36576" rIns="36576" bIns="36576" anchor="t">
            <a:spAutoFit/>
          </a:bodyPr>
          <a:lstStyle/>
          <a:p>
            <a:pPr>
              <a:spcAft>
                <a:spcPts val="400"/>
              </a:spcAft>
            </a:pPr>
            <a:r>
              <a:rPr sz="1900" b="1" i="0">
                <a:solidFill>
                  <a:srgbClr val="132238"/>
                </a:solidFill>
                <a:latin typeface="Aptos"/>
              </a:rPr>
              <a:t>Add text processing and persistence so records can be searched, sorted, and reused.</a:t>
            </a:r>
          </a:p>
        </p:txBody>
      </p:sp>
      <p:sp>
        <p:nvSpPr>
          <p:cNvPr id="7" name="Rounded Rectangle 6"/>
          <p:cNvSpPr/>
          <p:nvPr/>
        </p:nvSpPr>
        <p:spPr>
          <a:xfrm>
            <a:off x="749808" y="2423160"/>
            <a:ext cx="3337560" cy="2423160"/>
          </a:xfrm>
          <a:prstGeom prst="roundRect">
            <a:avLst/>
          </a:prstGeom>
          <a:solidFill>
            <a:srgbClr val="FFFFFF"/>
          </a:solidFill>
          <a:ln>
            <a:solidFill>
              <a:srgbClr val="DE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49808" y="2423160"/>
            <a:ext cx="68580" cy="2423160"/>
          </a:xfrm>
          <a:prstGeom prst="rect">
            <a:avLst/>
          </a:prstGeom>
          <a:solidFill>
            <a:srgbClr val="1C9B8B"/>
          </a:solidFill>
          <a:ln>
            <a:solidFill>
              <a:srgbClr val="1C9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0976" y="2587752"/>
            <a:ext cx="2953512" cy="320040"/>
          </a:xfrm>
          <a:prstGeom prst="rect">
            <a:avLst/>
          </a:prstGeom>
          <a:noFill/>
        </p:spPr>
        <p:txBody>
          <a:bodyPr wrap="square" lIns="36576" tIns="36576" rIns="36576" bIns="36576" anchor="t">
            <a:spAutoFit/>
          </a:bodyPr>
          <a:lstStyle/>
          <a:p>
            <a:pPr>
              <a:spcAft>
                <a:spcPts val="400"/>
              </a:spcAft>
            </a:pPr>
            <a:r>
              <a:rPr sz="1700" b="1" i="0">
                <a:solidFill>
                  <a:srgbClr val="132238"/>
                </a:solidFill>
                <a:latin typeface="Aptos"/>
              </a:rPr>
              <a:t>String &amp; StringBuilder</a:t>
            </a:r>
          </a:p>
        </p:txBody>
      </p:sp>
      <p:sp>
        <p:nvSpPr>
          <p:cNvPr id="10" name="TextBox 9"/>
          <p:cNvSpPr txBox="1"/>
          <p:nvPr/>
        </p:nvSpPr>
        <p:spPr>
          <a:xfrm>
            <a:off x="950976" y="3044952"/>
            <a:ext cx="2953512" cy="1655064"/>
          </a:xfrm>
          <a:prstGeom prst="rect">
            <a:avLst/>
          </a:prstGeom>
          <a:noFill/>
        </p:spPr>
        <p:txBody>
          <a:bodyPr wrap="square" lIns="36576" tIns="36576" rIns="36576" bIns="36576" anchor="t">
            <a:spAutoFit/>
          </a:bodyPr>
          <a:lstStyle/>
          <a:p>
            <a:pPr>
              <a:spcAft>
                <a:spcPts val="400"/>
              </a:spcAft>
            </a:pPr>
            <a:r>
              <a:rPr sz="1500" b="0" i="0">
                <a:solidFill>
                  <a:srgbClr val="132238"/>
                </a:solidFill>
                <a:latin typeface="Aptos"/>
              </a:rPr>
              <a:t>Store crop names as String.
Compare with equalsIgnoreCase().
Use StringBuilder to build reports.</a:t>
            </a:r>
          </a:p>
        </p:txBody>
      </p:sp>
      <p:sp>
        <p:nvSpPr>
          <p:cNvPr id="11" name="Rounded Rectangle 10"/>
          <p:cNvSpPr/>
          <p:nvPr/>
        </p:nvSpPr>
        <p:spPr>
          <a:xfrm>
            <a:off x="4434840" y="2423160"/>
            <a:ext cx="3337560" cy="2423160"/>
          </a:xfrm>
          <a:prstGeom prst="roundRect">
            <a:avLst/>
          </a:prstGeom>
          <a:solidFill>
            <a:srgbClr val="FFFFFF"/>
          </a:solidFill>
          <a:ln>
            <a:solidFill>
              <a:srgbClr val="DE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34840" y="2423160"/>
            <a:ext cx="68580" cy="2423160"/>
          </a:xfrm>
          <a:prstGeom prst="rect">
            <a:avLst/>
          </a:prstGeom>
          <a:solidFill>
            <a:srgbClr val="F4BC59"/>
          </a:solidFill>
          <a:ln>
            <a:solidFill>
              <a:srgbClr val="F4B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36007" y="2587752"/>
            <a:ext cx="2953512" cy="320040"/>
          </a:xfrm>
          <a:prstGeom prst="rect">
            <a:avLst/>
          </a:prstGeom>
          <a:noFill/>
        </p:spPr>
        <p:txBody>
          <a:bodyPr wrap="square" lIns="36576" tIns="36576" rIns="36576" bIns="36576" anchor="t">
            <a:spAutoFit/>
          </a:bodyPr>
          <a:lstStyle/>
          <a:p>
            <a:pPr>
              <a:spcAft>
                <a:spcPts val="400"/>
              </a:spcAft>
            </a:pPr>
            <a:r>
              <a:rPr sz="1700" b="1" i="0">
                <a:solidFill>
                  <a:srgbClr val="132238"/>
                </a:solidFill>
                <a:latin typeface="Aptos"/>
              </a:rPr>
              <a:t>Search &amp; sort</a:t>
            </a:r>
          </a:p>
        </p:txBody>
      </p:sp>
      <p:sp>
        <p:nvSpPr>
          <p:cNvPr id="14" name="TextBox 13"/>
          <p:cNvSpPr txBox="1"/>
          <p:nvPr/>
        </p:nvSpPr>
        <p:spPr>
          <a:xfrm>
            <a:off x="4636007" y="3044952"/>
            <a:ext cx="2953512" cy="1655064"/>
          </a:xfrm>
          <a:prstGeom prst="rect">
            <a:avLst/>
          </a:prstGeom>
          <a:noFill/>
        </p:spPr>
        <p:txBody>
          <a:bodyPr wrap="square" lIns="36576" tIns="36576" rIns="36576" bIns="36576" anchor="t">
            <a:spAutoFit/>
          </a:bodyPr>
          <a:lstStyle/>
          <a:p>
            <a:pPr>
              <a:spcAft>
                <a:spcPts val="400"/>
              </a:spcAft>
            </a:pPr>
            <a:r>
              <a:rPr sz="1400" b="0" i="0">
                <a:solidFill>
                  <a:srgbClr val="132238"/>
                </a:solidFill>
                <a:latin typeface="Aptos"/>
              </a:rPr>
              <a:t>Find a crop by name.
Sort records by price or sales value.
Use standard library algorithms and Comparator.</a:t>
            </a:r>
          </a:p>
        </p:txBody>
      </p:sp>
      <p:sp>
        <p:nvSpPr>
          <p:cNvPr id="15" name="Rounded Rectangle 14"/>
          <p:cNvSpPr/>
          <p:nvPr/>
        </p:nvSpPr>
        <p:spPr>
          <a:xfrm>
            <a:off x="8119872" y="2423160"/>
            <a:ext cx="3337560" cy="2423160"/>
          </a:xfrm>
          <a:prstGeom prst="roundRect">
            <a:avLst/>
          </a:prstGeom>
          <a:solidFill>
            <a:srgbClr val="FFFFFF"/>
          </a:solidFill>
          <a:ln>
            <a:solidFill>
              <a:srgbClr val="DE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19872" y="2423160"/>
            <a:ext cx="68580" cy="2423160"/>
          </a:xfrm>
          <a:prstGeom prst="rect">
            <a:avLst/>
          </a:prstGeom>
          <a:solidFill>
            <a:srgbClr val="5E96D3"/>
          </a:solidFill>
          <a:ln>
            <a:solidFill>
              <a:srgbClr val="5E96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21040" y="2587752"/>
            <a:ext cx="2953512" cy="320040"/>
          </a:xfrm>
          <a:prstGeom prst="rect">
            <a:avLst/>
          </a:prstGeom>
          <a:noFill/>
        </p:spPr>
        <p:txBody>
          <a:bodyPr wrap="square" lIns="36576" tIns="36576" rIns="36576" bIns="36576" anchor="t">
            <a:spAutoFit/>
          </a:bodyPr>
          <a:lstStyle/>
          <a:p>
            <a:pPr>
              <a:spcAft>
                <a:spcPts val="400"/>
              </a:spcAft>
            </a:pPr>
            <a:r>
              <a:rPr sz="1700" b="1" i="0">
                <a:solidFill>
                  <a:srgbClr val="132238"/>
                </a:solidFill>
                <a:latin typeface="Aptos"/>
              </a:rPr>
              <a:t>File I/O</a:t>
            </a:r>
          </a:p>
        </p:txBody>
      </p:sp>
      <p:sp>
        <p:nvSpPr>
          <p:cNvPr id="18" name="TextBox 17"/>
          <p:cNvSpPr txBox="1"/>
          <p:nvPr/>
        </p:nvSpPr>
        <p:spPr>
          <a:xfrm>
            <a:off x="8321040" y="3044952"/>
            <a:ext cx="2953512" cy="1655064"/>
          </a:xfrm>
          <a:prstGeom prst="rect">
            <a:avLst/>
          </a:prstGeom>
          <a:noFill/>
        </p:spPr>
        <p:txBody>
          <a:bodyPr wrap="square" lIns="36576" tIns="36576" rIns="36576" bIns="36576" anchor="t">
            <a:spAutoFit/>
          </a:bodyPr>
          <a:lstStyle/>
          <a:p>
            <a:pPr>
              <a:spcAft>
                <a:spcPts val="400"/>
              </a:spcAft>
            </a:pPr>
            <a:r>
              <a:rPr sz="1500" b="0" i="0">
                <a:solidFill>
                  <a:srgbClr val="132238"/>
                </a:solidFill>
                <a:latin typeface="Aptos"/>
              </a:rPr>
              <a:t>Write records to a text or CSV file.
Read them in later runs.
Handle IOException.</a:t>
            </a:r>
          </a:p>
        </p:txBody>
      </p:sp>
      <p:sp>
        <p:nvSpPr>
          <p:cNvPr id="19" name="TextBox 18"/>
          <p:cNvSpPr txBox="1"/>
          <p:nvPr/>
        </p:nvSpPr>
        <p:spPr>
          <a:xfrm>
            <a:off x="822960" y="5349240"/>
            <a:ext cx="10515600" cy="411480"/>
          </a:xfrm>
          <a:prstGeom prst="rect">
            <a:avLst/>
          </a:prstGeom>
          <a:noFill/>
        </p:spPr>
        <p:txBody>
          <a:bodyPr wrap="square" lIns="36576" tIns="36576" rIns="36576" bIns="36576" anchor="t">
            <a:spAutoFit/>
          </a:bodyPr>
          <a:lstStyle/>
          <a:p>
            <a:pPr>
              <a:spcAft>
                <a:spcPts val="400"/>
              </a:spcAft>
            </a:pPr>
            <a:r>
              <a:rPr sz="1600" b="0" i="0">
                <a:solidFill>
                  <a:srgbClr val="5E6D7E"/>
                </a:solidFill>
                <a:latin typeface="Aptos"/>
              </a:rPr>
              <a:t>Future extension: save sales records and generate daily or monthly summaries.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8"/>
        </a:solidFill>
        <a:effectLst/>
      </p:bgPr>
    </p:bg>
    <p:spTree>
      <p:nvGrpSpPr>
        <p:cNvPr id="1" name=""/>
        <p:cNvGrpSpPr/>
        <p:nvPr/>
      </p:nvGrpSpPr>
      <p:grpSpPr>
        <a:xfrm>
          <a:off x="0" y="0"/>
          <a:ext cx="0" cy="0"/>
          <a:chOff x="0" y="0"/>
          <a:chExt cx="0" cy="0"/>
        </a:xfrm>
      </p:grpSpPr>
      <p:sp>
        <p:nvSpPr>
          <p:cNvPr id="2" name="TextBox 1"/>
          <p:cNvSpPr txBox="1"/>
          <p:nvPr/>
        </p:nvSpPr>
        <p:spPr>
          <a:xfrm>
            <a:off x="658368" y="292608"/>
            <a:ext cx="9875520" cy="228600"/>
          </a:xfrm>
          <a:prstGeom prst="rect">
            <a:avLst/>
          </a:prstGeom>
          <a:noFill/>
        </p:spPr>
        <p:txBody>
          <a:bodyPr wrap="square" lIns="36576" tIns="36576" rIns="36576" bIns="36576" anchor="t">
            <a:spAutoFit/>
          </a:bodyPr>
          <a:lstStyle/>
          <a:p>
            <a:pPr>
              <a:spcAft>
                <a:spcPts val="400"/>
              </a:spcAft>
            </a:pPr>
            <a:r>
              <a:rPr sz="1000" b="1" i="0">
                <a:solidFill>
                  <a:srgbClr val="1C9B8B"/>
                </a:solidFill>
                <a:latin typeface="Aptos"/>
              </a:rPr>
              <a:t>CO6  •  BTL6  •  CREATE</a:t>
            </a:r>
          </a:p>
        </p:txBody>
      </p:sp>
      <p:sp>
        <p:nvSpPr>
          <p:cNvPr id="3" name="TextBox 2"/>
          <p:cNvSpPr txBox="1"/>
          <p:nvPr/>
        </p:nvSpPr>
        <p:spPr>
          <a:xfrm>
            <a:off x="658368" y="658368"/>
            <a:ext cx="10789920" cy="530352"/>
          </a:xfrm>
          <a:prstGeom prst="rect">
            <a:avLst/>
          </a:prstGeom>
          <a:noFill/>
        </p:spPr>
        <p:txBody>
          <a:bodyPr wrap="square" lIns="36576" tIns="36576" rIns="36576" bIns="36576" anchor="t">
            <a:spAutoFit/>
          </a:bodyPr>
          <a:lstStyle/>
          <a:p>
            <a:pPr>
              <a:spcAft>
                <a:spcPts val="400"/>
              </a:spcAft>
            </a:pPr>
            <a:r>
              <a:rPr sz="2800" b="1" i="0">
                <a:solidFill>
                  <a:srgbClr val="132238"/>
                </a:solidFill>
                <a:latin typeface="Aptos"/>
              </a:rPr>
              <a:t>Collections &amp; Streams</a:t>
            </a:r>
          </a:p>
        </p:txBody>
      </p:sp>
      <p:sp>
        <p:nvSpPr>
          <p:cNvPr id="4" name="Rectangle 3"/>
          <p:cNvSpPr/>
          <p:nvPr/>
        </p:nvSpPr>
        <p:spPr>
          <a:xfrm>
            <a:off x="667512" y="1298448"/>
            <a:ext cx="777240" cy="50292"/>
          </a:xfrm>
          <a:prstGeom prst="rect">
            <a:avLst/>
          </a:prstGeom>
          <a:solidFill>
            <a:srgbClr val="1C9B8B"/>
          </a:solidFill>
          <a:ln>
            <a:solidFill>
              <a:srgbClr val="1C9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744200" y="6473952"/>
            <a:ext cx="822960" cy="182880"/>
          </a:xfrm>
          <a:prstGeom prst="rect">
            <a:avLst/>
          </a:prstGeom>
          <a:noFill/>
        </p:spPr>
        <p:txBody>
          <a:bodyPr wrap="square" lIns="36576" tIns="36576" rIns="36576" bIns="36576" anchor="t">
            <a:spAutoFit/>
          </a:bodyPr>
          <a:lstStyle/>
          <a:p>
            <a:pPr algn="r">
              <a:spcAft>
                <a:spcPts val="400"/>
              </a:spcAft>
            </a:pPr>
            <a:r>
              <a:rPr sz="900" b="0" i="0">
                <a:solidFill>
                  <a:srgbClr val="5E6D7E"/>
                </a:solidFill>
                <a:latin typeface="Aptos"/>
              </a:rPr>
              <a:t>08  /  12</a:t>
            </a:r>
          </a:p>
        </p:txBody>
      </p:sp>
      <p:sp>
        <p:nvSpPr>
          <p:cNvPr id="6" name="TextBox 5"/>
          <p:cNvSpPr txBox="1"/>
          <p:nvPr/>
        </p:nvSpPr>
        <p:spPr>
          <a:xfrm>
            <a:off x="749808" y="1627632"/>
            <a:ext cx="10698480" cy="530352"/>
          </a:xfrm>
          <a:prstGeom prst="rect">
            <a:avLst/>
          </a:prstGeom>
          <a:noFill/>
        </p:spPr>
        <p:txBody>
          <a:bodyPr wrap="square" lIns="36576" tIns="36576" rIns="36576" bIns="36576" anchor="t">
            <a:spAutoFit/>
          </a:bodyPr>
          <a:lstStyle/>
          <a:p>
            <a:pPr>
              <a:spcAft>
                <a:spcPts val="400"/>
              </a:spcAft>
            </a:pPr>
            <a:r>
              <a:rPr sz="1900" b="1" i="0">
                <a:solidFill>
                  <a:srgbClr val="132238"/>
                </a:solidFill>
                <a:latin typeface="Aptos"/>
              </a:rPr>
              <a:t>Manage multiple sales records and process them declaratively using Stream pipelines.</a:t>
            </a:r>
          </a:p>
        </p:txBody>
      </p:sp>
      <p:sp>
        <p:nvSpPr>
          <p:cNvPr id="7" name="Rounded Rectangle 6"/>
          <p:cNvSpPr/>
          <p:nvPr/>
        </p:nvSpPr>
        <p:spPr>
          <a:xfrm>
            <a:off x="749808" y="2423160"/>
            <a:ext cx="3337560" cy="2423160"/>
          </a:xfrm>
          <a:prstGeom prst="roundRect">
            <a:avLst/>
          </a:prstGeom>
          <a:solidFill>
            <a:srgbClr val="FFFFFF"/>
          </a:solidFill>
          <a:ln>
            <a:solidFill>
              <a:srgbClr val="DE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49808" y="2423160"/>
            <a:ext cx="68580" cy="2423160"/>
          </a:xfrm>
          <a:prstGeom prst="rect">
            <a:avLst/>
          </a:prstGeom>
          <a:solidFill>
            <a:srgbClr val="1C9B8B"/>
          </a:solidFill>
          <a:ln>
            <a:solidFill>
              <a:srgbClr val="1C9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0976" y="2587752"/>
            <a:ext cx="2953512" cy="320040"/>
          </a:xfrm>
          <a:prstGeom prst="rect">
            <a:avLst/>
          </a:prstGeom>
          <a:noFill/>
        </p:spPr>
        <p:txBody>
          <a:bodyPr wrap="square" lIns="36576" tIns="36576" rIns="36576" bIns="36576" anchor="t">
            <a:spAutoFit/>
          </a:bodyPr>
          <a:lstStyle/>
          <a:p>
            <a:pPr>
              <a:spcAft>
                <a:spcPts val="400"/>
              </a:spcAft>
            </a:pPr>
            <a:r>
              <a:rPr sz="1700" b="1" i="0">
                <a:solidFill>
                  <a:srgbClr val="132238"/>
                </a:solidFill>
                <a:latin typeface="Aptos"/>
              </a:rPr>
              <a:t>Collections</a:t>
            </a:r>
          </a:p>
        </p:txBody>
      </p:sp>
      <p:sp>
        <p:nvSpPr>
          <p:cNvPr id="10" name="TextBox 9"/>
          <p:cNvSpPr txBox="1"/>
          <p:nvPr/>
        </p:nvSpPr>
        <p:spPr>
          <a:xfrm>
            <a:off x="950976" y="3044952"/>
            <a:ext cx="2953512" cy="1655064"/>
          </a:xfrm>
          <a:prstGeom prst="rect">
            <a:avLst/>
          </a:prstGeom>
          <a:noFill/>
        </p:spPr>
        <p:txBody>
          <a:bodyPr wrap="square" lIns="36576" tIns="36576" rIns="36576" bIns="36576" anchor="t">
            <a:spAutoFit/>
          </a:bodyPr>
          <a:lstStyle/>
          <a:p>
            <a:pPr>
              <a:spcAft>
                <a:spcPts val="400"/>
              </a:spcAft>
            </a:pPr>
            <a:r>
              <a:rPr sz="1500" b="0" i="0">
                <a:solidFill>
                  <a:srgbClr val="132238"/>
                </a:solidFill>
                <a:latin typeface="Aptos"/>
              </a:rPr>
              <a:t>List&lt;CropSale&gt;: ordered records.
Set: unique values.
Map: key-value lookup by crop name.</a:t>
            </a:r>
          </a:p>
        </p:txBody>
      </p:sp>
      <p:sp>
        <p:nvSpPr>
          <p:cNvPr id="11" name="Rounded Rectangle 10"/>
          <p:cNvSpPr/>
          <p:nvPr/>
        </p:nvSpPr>
        <p:spPr>
          <a:xfrm>
            <a:off x="4434840" y="2423160"/>
            <a:ext cx="3337560" cy="2423160"/>
          </a:xfrm>
          <a:prstGeom prst="roundRect">
            <a:avLst/>
          </a:prstGeom>
          <a:solidFill>
            <a:srgbClr val="FFFFFF"/>
          </a:solidFill>
          <a:ln>
            <a:solidFill>
              <a:srgbClr val="DE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34840" y="2423160"/>
            <a:ext cx="68580" cy="2423160"/>
          </a:xfrm>
          <a:prstGeom prst="rect">
            <a:avLst/>
          </a:prstGeom>
          <a:solidFill>
            <a:srgbClr val="F4BC59"/>
          </a:solidFill>
          <a:ln>
            <a:solidFill>
              <a:srgbClr val="F4B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36007" y="2587752"/>
            <a:ext cx="2953512" cy="320040"/>
          </a:xfrm>
          <a:prstGeom prst="rect">
            <a:avLst/>
          </a:prstGeom>
          <a:noFill/>
        </p:spPr>
        <p:txBody>
          <a:bodyPr wrap="square" lIns="36576" tIns="36576" rIns="36576" bIns="36576" anchor="t">
            <a:spAutoFit/>
          </a:bodyPr>
          <a:lstStyle/>
          <a:p>
            <a:pPr>
              <a:spcAft>
                <a:spcPts val="400"/>
              </a:spcAft>
            </a:pPr>
            <a:r>
              <a:rPr sz="1700" b="1" i="0">
                <a:solidFill>
                  <a:srgbClr val="132238"/>
                </a:solidFill>
                <a:latin typeface="Aptos"/>
              </a:rPr>
              <a:t>Lambdas &amp; interfaces</a:t>
            </a:r>
          </a:p>
        </p:txBody>
      </p:sp>
      <p:sp>
        <p:nvSpPr>
          <p:cNvPr id="14" name="TextBox 13"/>
          <p:cNvSpPr txBox="1"/>
          <p:nvPr/>
        </p:nvSpPr>
        <p:spPr>
          <a:xfrm>
            <a:off x="4636007" y="3044952"/>
            <a:ext cx="2953512" cy="1655064"/>
          </a:xfrm>
          <a:prstGeom prst="rect">
            <a:avLst/>
          </a:prstGeom>
          <a:noFill/>
        </p:spPr>
        <p:txBody>
          <a:bodyPr wrap="square" lIns="36576" tIns="36576" rIns="36576" bIns="36576" anchor="t">
            <a:spAutoFit/>
          </a:bodyPr>
          <a:lstStyle/>
          <a:p>
            <a:pPr>
              <a:spcAft>
                <a:spcPts val="400"/>
              </a:spcAft>
            </a:pPr>
            <a:r>
              <a:rPr sz="1400" b="0" i="0">
                <a:solidFill>
                  <a:srgbClr val="132238"/>
                </a:solidFill>
                <a:latin typeface="Aptos"/>
              </a:rPr>
              <a:t>Lambdas express compact behaviour.
Functional interfaces define one abstract operation.
Use Comparator for sorting.</a:t>
            </a:r>
          </a:p>
        </p:txBody>
      </p:sp>
      <p:sp>
        <p:nvSpPr>
          <p:cNvPr id="15" name="Rounded Rectangle 14"/>
          <p:cNvSpPr/>
          <p:nvPr/>
        </p:nvSpPr>
        <p:spPr>
          <a:xfrm>
            <a:off x="8119872" y="2423160"/>
            <a:ext cx="3337560" cy="2423160"/>
          </a:xfrm>
          <a:prstGeom prst="roundRect">
            <a:avLst/>
          </a:prstGeom>
          <a:solidFill>
            <a:srgbClr val="FFFFFF"/>
          </a:solidFill>
          <a:ln>
            <a:solidFill>
              <a:srgbClr val="DE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19872" y="2423160"/>
            <a:ext cx="68580" cy="2423160"/>
          </a:xfrm>
          <a:prstGeom prst="rect">
            <a:avLst/>
          </a:prstGeom>
          <a:solidFill>
            <a:srgbClr val="5E96D3"/>
          </a:solidFill>
          <a:ln>
            <a:solidFill>
              <a:srgbClr val="5E96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21040" y="2587752"/>
            <a:ext cx="2953512" cy="320040"/>
          </a:xfrm>
          <a:prstGeom prst="rect">
            <a:avLst/>
          </a:prstGeom>
          <a:noFill/>
        </p:spPr>
        <p:txBody>
          <a:bodyPr wrap="square" lIns="36576" tIns="36576" rIns="36576" bIns="36576" anchor="t">
            <a:spAutoFit/>
          </a:bodyPr>
          <a:lstStyle/>
          <a:p>
            <a:pPr>
              <a:spcAft>
                <a:spcPts val="400"/>
              </a:spcAft>
            </a:pPr>
            <a:r>
              <a:rPr sz="1700" b="1" i="0">
                <a:solidFill>
                  <a:srgbClr val="132238"/>
                </a:solidFill>
                <a:latin typeface="Aptos"/>
              </a:rPr>
              <a:t>Stream pipeline</a:t>
            </a:r>
          </a:p>
        </p:txBody>
      </p:sp>
      <p:sp>
        <p:nvSpPr>
          <p:cNvPr id="18" name="TextBox 17"/>
          <p:cNvSpPr txBox="1"/>
          <p:nvPr/>
        </p:nvSpPr>
        <p:spPr>
          <a:xfrm>
            <a:off x="8321040" y="3044952"/>
            <a:ext cx="2953512" cy="1655064"/>
          </a:xfrm>
          <a:prstGeom prst="rect">
            <a:avLst/>
          </a:prstGeom>
          <a:noFill/>
        </p:spPr>
        <p:txBody>
          <a:bodyPr wrap="square" lIns="36576" tIns="36576" rIns="36576" bIns="36576" anchor="t">
            <a:spAutoFit/>
          </a:bodyPr>
          <a:lstStyle/>
          <a:p>
            <a:pPr>
              <a:spcAft>
                <a:spcPts val="400"/>
              </a:spcAft>
            </a:pPr>
            <a:r>
              <a:rPr sz="1500" b="0" i="0">
                <a:solidFill>
                  <a:srgbClr val="132238"/>
                </a:solidFill>
                <a:latin typeface="Aptos"/>
              </a:rPr>
              <a:t>filter() selects records.
map() transforms values.
forEach() processes results.
collect() gathers results.</a:t>
            </a:r>
          </a:p>
        </p:txBody>
      </p:sp>
      <p:sp>
        <p:nvSpPr>
          <p:cNvPr id="19" name="Rounded Rectangle 18"/>
          <p:cNvSpPr/>
          <p:nvPr/>
        </p:nvSpPr>
        <p:spPr>
          <a:xfrm>
            <a:off x="777240" y="5212080"/>
            <a:ext cx="7863840" cy="868680"/>
          </a:xfrm>
          <a:prstGeom prst="roundRect">
            <a:avLst/>
          </a:prstGeom>
          <a:solidFill>
            <a:srgbClr val="0D192A"/>
          </a:solidFill>
          <a:ln>
            <a:solidFill>
              <a:srgbClr val="0D19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78408" y="5358384"/>
            <a:ext cx="7461504" cy="594359"/>
          </a:xfrm>
          <a:prstGeom prst="rect">
            <a:avLst/>
          </a:prstGeom>
          <a:noFill/>
        </p:spPr>
        <p:txBody>
          <a:bodyPr wrap="square" lIns="18288" tIns="18288" rIns="18288" bIns="18288" anchor="t">
            <a:spAutoFit/>
          </a:bodyPr>
          <a:lstStyle/>
          <a:p>
            <a:pPr>
              <a:spcAft>
                <a:spcPts val="400"/>
              </a:spcAft>
            </a:pPr>
            <a:r>
              <a:rPr sz="1200" b="0" i="0">
                <a:solidFill>
                  <a:srgbClr val="D8EDE7"/>
                </a:solidFill>
                <a:latin typeface="Consolas"/>
              </a:rPr>
              <a:t>sales.stream()
    .filter(sale -&gt; sale.calculateTotal() &gt; 500)
    .forEach(System.out::println);</a:t>
            </a:r>
          </a:p>
        </p:txBody>
      </p:sp>
      <p:sp>
        <p:nvSpPr>
          <p:cNvPr id="21" name="TextBox 20"/>
          <p:cNvSpPr txBox="1"/>
          <p:nvPr/>
        </p:nvSpPr>
        <p:spPr>
          <a:xfrm>
            <a:off x="8915400" y="5449824"/>
            <a:ext cx="2286000" cy="274320"/>
          </a:xfrm>
          <a:prstGeom prst="rect">
            <a:avLst/>
          </a:prstGeom>
          <a:noFill/>
        </p:spPr>
        <p:txBody>
          <a:bodyPr wrap="square" lIns="36576" tIns="36576" rIns="36576" bIns="36576" anchor="t">
            <a:spAutoFit/>
          </a:bodyPr>
          <a:lstStyle/>
          <a:p>
            <a:pPr>
              <a:spcAft>
                <a:spcPts val="400"/>
              </a:spcAft>
            </a:pPr>
            <a:r>
              <a:rPr sz="1300" b="1" i="0">
                <a:solidFill>
                  <a:srgbClr val="5E6D7E"/>
                </a:solidFill>
                <a:latin typeface="Aptos"/>
              </a:rPr>
              <a:t>Example: process sales above ₹500.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8"/>
        </a:solidFill>
        <a:effectLst/>
      </p:bgPr>
    </p:bg>
    <p:spTree>
      <p:nvGrpSpPr>
        <p:cNvPr id="1" name=""/>
        <p:cNvGrpSpPr/>
        <p:nvPr/>
      </p:nvGrpSpPr>
      <p:grpSpPr>
        <a:xfrm>
          <a:off x="0" y="0"/>
          <a:ext cx="0" cy="0"/>
          <a:chOff x="0" y="0"/>
          <a:chExt cx="0" cy="0"/>
        </a:xfrm>
      </p:grpSpPr>
      <p:sp>
        <p:nvSpPr>
          <p:cNvPr id="2" name="TextBox 1"/>
          <p:cNvSpPr txBox="1"/>
          <p:nvPr/>
        </p:nvSpPr>
        <p:spPr>
          <a:xfrm>
            <a:off x="658368" y="292608"/>
            <a:ext cx="9875520" cy="228600"/>
          </a:xfrm>
          <a:prstGeom prst="rect">
            <a:avLst/>
          </a:prstGeom>
          <a:noFill/>
        </p:spPr>
        <p:txBody>
          <a:bodyPr wrap="square" lIns="36576" tIns="36576" rIns="36576" bIns="36576" anchor="t">
            <a:spAutoFit/>
          </a:bodyPr>
          <a:lstStyle/>
          <a:p>
            <a:pPr>
              <a:spcAft>
                <a:spcPts val="400"/>
              </a:spcAft>
            </a:pPr>
            <a:r>
              <a:rPr sz="1000" b="1" i="0">
                <a:solidFill>
                  <a:srgbClr val="1C9B8B"/>
                </a:solidFill>
                <a:latin typeface="Aptos"/>
              </a:rPr>
              <a:t>CORE LOGIC</a:t>
            </a:r>
          </a:p>
        </p:txBody>
      </p:sp>
      <p:sp>
        <p:nvSpPr>
          <p:cNvPr id="3" name="TextBox 2"/>
          <p:cNvSpPr txBox="1"/>
          <p:nvPr/>
        </p:nvSpPr>
        <p:spPr>
          <a:xfrm>
            <a:off x="658368" y="658368"/>
            <a:ext cx="10789920" cy="530352"/>
          </a:xfrm>
          <a:prstGeom prst="rect">
            <a:avLst/>
          </a:prstGeom>
          <a:noFill/>
        </p:spPr>
        <p:txBody>
          <a:bodyPr wrap="square" lIns="36576" tIns="36576" rIns="36576" bIns="36576" anchor="t">
            <a:spAutoFit/>
          </a:bodyPr>
          <a:lstStyle/>
          <a:p>
            <a:pPr>
              <a:spcAft>
                <a:spcPts val="400"/>
              </a:spcAft>
            </a:pPr>
            <a:r>
              <a:rPr sz="2800" b="1" i="0">
                <a:solidFill>
                  <a:srgbClr val="132238"/>
                </a:solidFill>
                <a:latin typeface="Aptos"/>
              </a:rPr>
              <a:t>Theory — Algorithm, Data &amp; Formula</a:t>
            </a:r>
          </a:p>
        </p:txBody>
      </p:sp>
      <p:sp>
        <p:nvSpPr>
          <p:cNvPr id="4" name="Rectangle 3"/>
          <p:cNvSpPr/>
          <p:nvPr/>
        </p:nvSpPr>
        <p:spPr>
          <a:xfrm>
            <a:off x="667512" y="1298448"/>
            <a:ext cx="777240" cy="50292"/>
          </a:xfrm>
          <a:prstGeom prst="rect">
            <a:avLst/>
          </a:prstGeom>
          <a:solidFill>
            <a:srgbClr val="1C9B8B"/>
          </a:solidFill>
          <a:ln>
            <a:solidFill>
              <a:srgbClr val="1C9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744200" y="6473952"/>
            <a:ext cx="822960" cy="182880"/>
          </a:xfrm>
          <a:prstGeom prst="rect">
            <a:avLst/>
          </a:prstGeom>
          <a:noFill/>
        </p:spPr>
        <p:txBody>
          <a:bodyPr wrap="square" lIns="36576" tIns="36576" rIns="36576" bIns="36576" anchor="t">
            <a:spAutoFit/>
          </a:bodyPr>
          <a:lstStyle/>
          <a:p>
            <a:pPr algn="r">
              <a:spcAft>
                <a:spcPts val="400"/>
              </a:spcAft>
            </a:pPr>
            <a:r>
              <a:rPr sz="900" b="0" i="0">
                <a:solidFill>
                  <a:srgbClr val="5E6D7E"/>
                </a:solidFill>
                <a:latin typeface="Aptos"/>
              </a:rPr>
              <a:t>09  /  12</a:t>
            </a:r>
          </a:p>
        </p:txBody>
      </p:sp>
      <p:sp>
        <p:nvSpPr>
          <p:cNvPr id="6" name="Rounded Rectangle 5"/>
          <p:cNvSpPr/>
          <p:nvPr/>
        </p:nvSpPr>
        <p:spPr>
          <a:xfrm>
            <a:off x="749808" y="1664208"/>
            <a:ext cx="3337560" cy="1417320"/>
          </a:xfrm>
          <a:prstGeom prst="roundRect">
            <a:avLst/>
          </a:prstGeom>
          <a:solidFill>
            <a:srgbClr val="FFFFFF"/>
          </a:solidFill>
          <a:ln>
            <a:solidFill>
              <a:srgbClr val="DE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49808" y="1664208"/>
            <a:ext cx="68580" cy="1417320"/>
          </a:xfrm>
          <a:prstGeom prst="rect">
            <a:avLst/>
          </a:prstGeom>
          <a:solidFill>
            <a:srgbClr val="1C9B8B"/>
          </a:solidFill>
          <a:ln>
            <a:solidFill>
              <a:srgbClr val="1C9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50976" y="1828800"/>
            <a:ext cx="2953512" cy="320040"/>
          </a:xfrm>
          <a:prstGeom prst="rect">
            <a:avLst/>
          </a:prstGeom>
          <a:noFill/>
        </p:spPr>
        <p:txBody>
          <a:bodyPr wrap="square" lIns="36576" tIns="36576" rIns="36576" bIns="36576" anchor="t">
            <a:spAutoFit/>
          </a:bodyPr>
          <a:lstStyle/>
          <a:p>
            <a:pPr>
              <a:spcAft>
                <a:spcPts val="400"/>
              </a:spcAft>
            </a:pPr>
            <a:r>
              <a:rPr sz="1600" b="1" i="0">
                <a:solidFill>
                  <a:srgbClr val="132238"/>
                </a:solidFill>
                <a:latin typeface="Aptos"/>
              </a:rPr>
              <a:t>INPUT</a:t>
            </a:r>
          </a:p>
        </p:txBody>
      </p:sp>
      <p:sp>
        <p:nvSpPr>
          <p:cNvPr id="9" name="TextBox 8"/>
          <p:cNvSpPr txBox="1"/>
          <p:nvPr/>
        </p:nvSpPr>
        <p:spPr>
          <a:xfrm>
            <a:off x="950976" y="2286000"/>
            <a:ext cx="2953512" cy="649224"/>
          </a:xfrm>
          <a:prstGeom prst="rect">
            <a:avLst/>
          </a:prstGeom>
          <a:noFill/>
        </p:spPr>
        <p:txBody>
          <a:bodyPr wrap="square" lIns="36576" tIns="36576" rIns="36576" bIns="36576" anchor="t">
            <a:spAutoFit/>
          </a:bodyPr>
          <a:lstStyle/>
          <a:p>
            <a:pPr>
              <a:spcAft>
                <a:spcPts val="400"/>
              </a:spcAft>
            </a:pPr>
            <a:r>
              <a:rPr sz="1300" b="0" i="0">
                <a:solidFill>
                  <a:srgbClr val="132238"/>
                </a:solidFill>
                <a:latin typeface="Aptos"/>
              </a:rPr>
              <a:t>crop: String
price: double (₹/kg)
quantity: double (kg)</a:t>
            </a:r>
          </a:p>
        </p:txBody>
      </p:sp>
      <p:sp>
        <p:nvSpPr>
          <p:cNvPr id="10" name="Rounded Rectangle 9"/>
          <p:cNvSpPr/>
          <p:nvPr/>
        </p:nvSpPr>
        <p:spPr>
          <a:xfrm>
            <a:off x="4434840" y="1664208"/>
            <a:ext cx="3337560" cy="1417320"/>
          </a:xfrm>
          <a:prstGeom prst="roundRect">
            <a:avLst/>
          </a:prstGeom>
          <a:solidFill>
            <a:srgbClr val="FFFFFF"/>
          </a:solidFill>
          <a:ln>
            <a:solidFill>
              <a:srgbClr val="DE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34840" y="1664208"/>
            <a:ext cx="68580" cy="1417320"/>
          </a:xfrm>
          <a:prstGeom prst="rect">
            <a:avLst/>
          </a:prstGeom>
          <a:solidFill>
            <a:srgbClr val="F4BC59"/>
          </a:solidFill>
          <a:ln>
            <a:solidFill>
              <a:srgbClr val="F4B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36007" y="1828800"/>
            <a:ext cx="2953512" cy="320040"/>
          </a:xfrm>
          <a:prstGeom prst="rect">
            <a:avLst/>
          </a:prstGeom>
          <a:noFill/>
        </p:spPr>
        <p:txBody>
          <a:bodyPr wrap="square" lIns="36576" tIns="36576" rIns="36576" bIns="36576" anchor="t">
            <a:spAutoFit/>
          </a:bodyPr>
          <a:lstStyle/>
          <a:p>
            <a:pPr>
              <a:spcAft>
                <a:spcPts val="400"/>
              </a:spcAft>
            </a:pPr>
            <a:r>
              <a:rPr sz="1600" b="1" i="0">
                <a:solidFill>
                  <a:srgbClr val="132238"/>
                </a:solidFill>
                <a:latin typeface="Aptos"/>
              </a:rPr>
              <a:t>PROCESS</a:t>
            </a:r>
          </a:p>
        </p:txBody>
      </p:sp>
      <p:sp>
        <p:nvSpPr>
          <p:cNvPr id="13" name="TextBox 12"/>
          <p:cNvSpPr txBox="1"/>
          <p:nvPr/>
        </p:nvSpPr>
        <p:spPr>
          <a:xfrm>
            <a:off x="4636007" y="2286000"/>
            <a:ext cx="2953512" cy="649224"/>
          </a:xfrm>
          <a:prstGeom prst="rect">
            <a:avLst/>
          </a:prstGeom>
          <a:noFill/>
        </p:spPr>
        <p:txBody>
          <a:bodyPr wrap="square" lIns="36576" tIns="36576" rIns="36576" bIns="36576" anchor="t">
            <a:spAutoFit/>
          </a:bodyPr>
          <a:lstStyle/>
          <a:p>
            <a:pPr>
              <a:spcAft>
                <a:spcPts val="400"/>
              </a:spcAft>
            </a:pPr>
            <a:r>
              <a:rPr sz="1300" b="0" i="0">
                <a:solidFill>
                  <a:srgbClr val="132238"/>
                </a:solidFill>
                <a:latin typeface="Aptos"/>
              </a:rPr>
              <a:t>total = price × quantity
Check values are non-negative.</a:t>
            </a:r>
          </a:p>
        </p:txBody>
      </p:sp>
      <p:sp>
        <p:nvSpPr>
          <p:cNvPr id="14" name="Rounded Rectangle 13"/>
          <p:cNvSpPr/>
          <p:nvPr/>
        </p:nvSpPr>
        <p:spPr>
          <a:xfrm>
            <a:off x="8119872" y="1664208"/>
            <a:ext cx="3337560" cy="1417320"/>
          </a:xfrm>
          <a:prstGeom prst="roundRect">
            <a:avLst/>
          </a:prstGeom>
          <a:solidFill>
            <a:srgbClr val="FFFFFF"/>
          </a:solidFill>
          <a:ln>
            <a:solidFill>
              <a:srgbClr val="DE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19872" y="1664208"/>
            <a:ext cx="68580" cy="1417320"/>
          </a:xfrm>
          <a:prstGeom prst="rect">
            <a:avLst/>
          </a:prstGeom>
          <a:solidFill>
            <a:srgbClr val="5E96D3"/>
          </a:solidFill>
          <a:ln>
            <a:solidFill>
              <a:srgbClr val="5E96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0" y="1828800"/>
            <a:ext cx="2953512" cy="320040"/>
          </a:xfrm>
          <a:prstGeom prst="rect">
            <a:avLst/>
          </a:prstGeom>
          <a:noFill/>
        </p:spPr>
        <p:txBody>
          <a:bodyPr wrap="square" lIns="36576" tIns="36576" rIns="36576" bIns="36576" anchor="t">
            <a:spAutoFit/>
          </a:bodyPr>
          <a:lstStyle/>
          <a:p>
            <a:pPr>
              <a:spcAft>
                <a:spcPts val="400"/>
              </a:spcAft>
            </a:pPr>
            <a:r>
              <a:rPr sz="1600" b="1" i="0">
                <a:solidFill>
                  <a:srgbClr val="132238"/>
                </a:solidFill>
                <a:latin typeface="Aptos"/>
              </a:rPr>
              <a:t>OUTPUT</a:t>
            </a:r>
          </a:p>
        </p:txBody>
      </p:sp>
      <p:sp>
        <p:nvSpPr>
          <p:cNvPr id="17" name="TextBox 16"/>
          <p:cNvSpPr txBox="1"/>
          <p:nvPr/>
        </p:nvSpPr>
        <p:spPr>
          <a:xfrm>
            <a:off x="8321040" y="2286000"/>
            <a:ext cx="2953512" cy="649224"/>
          </a:xfrm>
          <a:prstGeom prst="rect">
            <a:avLst/>
          </a:prstGeom>
          <a:noFill/>
        </p:spPr>
        <p:txBody>
          <a:bodyPr wrap="square" lIns="36576" tIns="36576" rIns="36576" bIns="36576" anchor="t">
            <a:spAutoFit/>
          </a:bodyPr>
          <a:lstStyle/>
          <a:p>
            <a:pPr>
              <a:spcAft>
                <a:spcPts val="400"/>
              </a:spcAft>
            </a:pPr>
            <a:r>
              <a:rPr sz="1300" b="0" i="0">
                <a:solidFill>
                  <a:srgbClr val="132238"/>
                </a:solidFill>
                <a:latin typeface="Aptos"/>
              </a:rPr>
              <a:t>Crop name
Price and quantity
Total sales value</a:t>
            </a:r>
          </a:p>
        </p:txBody>
      </p:sp>
      <p:sp>
        <p:nvSpPr>
          <p:cNvPr id="18" name="TextBox 17"/>
          <p:cNvSpPr txBox="1"/>
          <p:nvPr/>
        </p:nvSpPr>
        <p:spPr>
          <a:xfrm>
            <a:off x="822960" y="3520440"/>
            <a:ext cx="1828800" cy="228600"/>
          </a:xfrm>
          <a:prstGeom prst="rect">
            <a:avLst/>
          </a:prstGeom>
          <a:noFill/>
        </p:spPr>
        <p:txBody>
          <a:bodyPr wrap="square" lIns="36576" tIns="36576" rIns="36576" bIns="36576" anchor="t">
            <a:spAutoFit/>
          </a:bodyPr>
          <a:lstStyle/>
          <a:p>
            <a:pPr>
              <a:spcAft>
                <a:spcPts val="400"/>
              </a:spcAft>
            </a:pPr>
            <a:r>
              <a:rPr sz="1000" b="1" i="0">
                <a:solidFill>
                  <a:srgbClr val="1C9B8B"/>
                </a:solidFill>
                <a:latin typeface="Aptos"/>
              </a:rPr>
              <a:t>PSEUDOCODE</a:t>
            </a:r>
          </a:p>
        </p:txBody>
      </p:sp>
      <p:sp>
        <p:nvSpPr>
          <p:cNvPr id="19" name="Rounded Rectangle 18"/>
          <p:cNvSpPr/>
          <p:nvPr/>
        </p:nvSpPr>
        <p:spPr>
          <a:xfrm>
            <a:off x="749808" y="3886200"/>
            <a:ext cx="6583680" cy="2011680"/>
          </a:xfrm>
          <a:prstGeom prst="roundRect">
            <a:avLst/>
          </a:prstGeom>
          <a:solidFill>
            <a:srgbClr val="0D192A"/>
          </a:solidFill>
          <a:ln>
            <a:solidFill>
              <a:srgbClr val="0D19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50976" y="4032504"/>
            <a:ext cx="6181344" cy="1737360"/>
          </a:xfrm>
          <a:prstGeom prst="rect">
            <a:avLst/>
          </a:prstGeom>
          <a:noFill/>
        </p:spPr>
        <p:txBody>
          <a:bodyPr wrap="square" lIns="18288" tIns="18288" rIns="18288" bIns="18288" anchor="t">
            <a:spAutoFit/>
          </a:bodyPr>
          <a:lstStyle/>
          <a:p>
            <a:pPr>
              <a:spcAft>
                <a:spcPts val="400"/>
              </a:spcAft>
            </a:pPr>
            <a:r>
              <a:rPr sz="1300" b="0" i="0">
                <a:solidFill>
                  <a:srgbClr val="D8EDE7"/>
                </a:solidFill>
                <a:latin typeface="Consolas"/>
              </a:rPr>
              <a:t>START
  READ crop, price, quantity
  IF price &lt; 0 OR quantity &lt; 0
      DISPLAY error
  ELSE
      total = price * quantity
      DISPLAY report
  END IF
STOP</a:t>
            </a:r>
          </a:p>
        </p:txBody>
      </p:sp>
      <p:sp>
        <p:nvSpPr>
          <p:cNvPr id="21" name="Rounded Rectangle 20"/>
          <p:cNvSpPr/>
          <p:nvPr/>
        </p:nvSpPr>
        <p:spPr>
          <a:xfrm>
            <a:off x="7726679" y="3977639"/>
            <a:ext cx="3474720" cy="1645920"/>
          </a:xfrm>
          <a:prstGeom prst="roundRect">
            <a:avLst/>
          </a:prstGeom>
          <a:solidFill>
            <a:srgbClr val="E6F5F1"/>
          </a:solidFill>
          <a:ln>
            <a:solidFill>
              <a:srgbClr val="E6F5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973568" y="4224528"/>
            <a:ext cx="2834640" cy="274320"/>
          </a:xfrm>
          <a:prstGeom prst="rect">
            <a:avLst/>
          </a:prstGeom>
          <a:noFill/>
        </p:spPr>
        <p:txBody>
          <a:bodyPr wrap="square" lIns="36576" tIns="36576" rIns="36576" bIns="36576" anchor="t">
            <a:spAutoFit/>
          </a:bodyPr>
          <a:lstStyle/>
          <a:p>
            <a:pPr>
              <a:spcAft>
                <a:spcPts val="400"/>
              </a:spcAft>
            </a:pPr>
            <a:r>
              <a:rPr sz="1200" b="1" i="0">
                <a:solidFill>
                  <a:srgbClr val="1C9B8B"/>
                </a:solidFill>
                <a:latin typeface="Aptos"/>
              </a:rPr>
              <a:t>IMPORTANT DISTINCTION</a:t>
            </a:r>
          </a:p>
        </p:txBody>
      </p:sp>
      <p:sp>
        <p:nvSpPr>
          <p:cNvPr id="23" name="TextBox 22"/>
          <p:cNvSpPr txBox="1"/>
          <p:nvPr/>
        </p:nvSpPr>
        <p:spPr>
          <a:xfrm>
            <a:off x="7973568" y="4645152"/>
            <a:ext cx="2743200" cy="731520"/>
          </a:xfrm>
          <a:prstGeom prst="rect">
            <a:avLst/>
          </a:prstGeom>
          <a:noFill/>
        </p:spPr>
        <p:txBody>
          <a:bodyPr wrap="square" lIns="36576" tIns="36576" rIns="36576" bIns="36576" anchor="t">
            <a:spAutoFit/>
          </a:bodyPr>
          <a:lstStyle/>
          <a:p>
            <a:pPr>
              <a:spcAft>
                <a:spcPts val="400"/>
              </a:spcAft>
            </a:pPr>
            <a:r>
              <a:rPr sz="1600" b="1" i="0">
                <a:solidFill>
                  <a:srgbClr val="132238"/>
                </a:solidFill>
                <a:latin typeface="Aptos"/>
              </a:rPr>
              <a:t>Total sales is revenue, not profit. Expenses are not deducted.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8"/>
        </a:solidFill>
        <a:effectLst/>
      </p:bgPr>
    </p:bg>
    <p:spTree>
      <p:nvGrpSpPr>
        <p:cNvPr id="1" name=""/>
        <p:cNvGrpSpPr/>
        <p:nvPr/>
      </p:nvGrpSpPr>
      <p:grpSpPr>
        <a:xfrm>
          <a:off x="0" y="0"/>
          <a:ext cx="0" cy="0"/>
          <a:chOff x="0" y="0"/>
          <a:chExt cx="0" cy="0"/>
        </a:xfrm>
      </p:grpSpPr>
      <p:sp>
        <p:nvSpPr>
          <p:cNvPr id="2" name="TextBox 1"/>
          <p:cNvSpPr txBox="1"/>
          <p:nvPr/>
        </p:nvSpPr>
        <p:spPr>
          <a:xfrm>
            <a:off x="658368" y="292608"/>
            <a:ext cx="9875520" cy="228600"/>
          </a:xfrm>
          <a:prstGeom prst="rect">
            <a:avLst/>
          </a:prstGeom>
          <a:noFill/>
        </p:spPr>
        <p:txBody>
          <a:bodyPr wrap="square" lIns="36576" tIns="36576" rIns="36576" bIns="36576" anchor="t">
            <a:spAutoFit/>
          </a:bodyPr>
          <a:lstStyle/>
          <a:p>
            <a:pPr>
              <a:spcAft>
                <a:spcPts val="400"/>
              </a:spcAft>
            </a:pPr>
            <a:r>
              <a:rPr sz="1000" b="1" i="0">
                <a:solidFill>
                  <a:srgbClr val="1C9B8B"/>
                </a:solidFill>
                <a:latin typeface="Aptos"/>
              </a:rPr>
              <a:t>IMPLEMENTATION</a:t>
            </a:r>
          </a:p>
        </p:txBody>
      </p:sp>
      <p:sp>
        <p:nvSpPr>
          <p:cNvPr id="3" name="TextBox 2"/>
          <p:cNvSpPr txBox="1"/>
          <p:nvPr/>
        </p:nvSpPr>
        <p:spPr>
          <a:xfrm>
            <a:off x="658368" y="658368"/>
            <a:ext cx="10789920" cy="530352"/>
          </a:xfrm>
          <a:prstGeom prst="rect">
            <a:avLst/>
          </a:prstGeom>
          <a:noFill/>
        </p:spPr>
        <p:txBody>
          <a:bodyPr wrap="square" lIns="36576" tIns="36576" rIns="36576" bIns="36576" anchor="t">
            <a:spAutoFit/>
          </a:bodyPr>
          <a:lstStyle/>
          <a:p>
            <a:pPr>
              <a:spcAft>
                <a:spcPts val="400"/>
              </a:spcAft>
            </a:pPr>
            <a:r>
              <a:rPr sz="2800" b="1" i="0">
                <a:solidFill>
                  <a:srgbClr val="132238"/>
                </a:solidFill>
                <a:latin typeface="Aptos"/>
              </a:rPr>
              <a:t>Java Code — Part 1: Read Input</a:t>
            </a:r>
          </a:p>
        </p:txBody>
      </p:sp>
      <p:sp>
        <p:nvSpPr>
          <p:cNvPr id="4" name="Rectangle 3"/>
          <p:cNvSpPr/>
          <p:nvPr/>
        </p:nvSpPr>
        <p:spPr>
          <a:xfrm>
            <a:off x="667512" y="1298448"/>
            <a:ext cx="777240" cy="50292"/>
          </a:xfrm>
          <a:prstGeom prst="rect">
            <a:avLst/>
          </a:prstGeom>
          <a:solidFill>
            <a:srgbClr val="1C9B8B"/>
          </a:solidFill>
          <a:ln>
            <a:solidFill>
              <a:srgbClr val="1C9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744200" y="6473952"/>
            <a:ext cx="822960" cy="182880"/>
          </a:xfrm>
          <a:prstGeom prst="rect">
            <a:avLst/>
          </a:prstGeom>
          <a:noFill/>
        </p:spPr>
        <p:txBody>
          <a:bodyPr wrap="square" lIns="36576" tIns="36576" rIns="36576" bIns="36576" anchor="t">
            <a:spAutoFit/>
          </a:bodyPr>
          <a:lstStyle/>
          <a:p>
            <a:pPr algn="r">
              <a:spcAft>
                <a:spcPts val="400"/>
              </a:spcAft>
            </a:pPr>
            <a:r>
              <a:rPr sz="900" b="0" i="0">
                <a:solidFill>
                  <a:srgbClr val="5E6D7E"/>
                </a:solidFill>
                <a:latin typeface="Aptos"/>
              </a:rPr>
              <a:t>10  /  12</a:t>
            </a:r>
          </a:p>
        </p:txBody>
      </p:sp>
      <p:sp>
        <p:nvSpPr>
          <p:cNvPr id="6" name="TextBox 5"/>
          <p:cNvSpPr txBox="1"/>
          <p:nvPr/>
        </p:nvSpPr>
        <p:spPr>
          <a:xfrm>
            <a:off x="749808" y="1600200"/>
            <a:ext cx="10607040" cy="438912"/>
          </a:xfrm>
          <a:prstGeom prst="rect">
            <a:avLst/>
          </a:prstGeom>
          <a:noFill/>
        </p:spPr>
        <p:txBody>
          <a:bodyPr wrap="square" lIns="36576" tIns="36576" rIns="36576" bIns="36576" anchor="t">
            <a:spAutoFit/>
          </a:bodyPr>
          <a:lstStyle/>
          <a:p>
            <a:pPr>
              <a:spcAft>
                <a:spcPts val="400"/>
              </a:spcAft>
            </a:pPr>
            <a:r>
              <a:rPr sz="1800" b="1" i="0">
                <a:solidFill>
                  <a:srgbClr val="132238"/>
                </a:solidFill>
                <a:latin typeface="Aptos"/>
              </a:rPr>
              <a:t>Use Scanner to accept the crop name, price per kilogram, and quantity sold.</a:t>
            </a:r>
          </a:p>
        </p:txBody>
      </p:sp>
      <p:sp>
        <p:nvSpPr>
          <p:cNvPr id="7" name="Rounded Rectangle 6"/>
          <p:cNvSpPr/>
          <p:nvPr/>
        </p:nvSpPr>
        <p:spPr>
          <a:xfrm>
            <a:off x="749808" y="2148840"/>
            <a:ext cx="7498079" cy="4095206"/>
          </a:xfrm>
          <a:prstGeom prst="roundRect">
            <a:avLst/>
          </a:prstGeom>
          <a:solidFill>
            <a:srgbClr val="0D192A"/>
          </a:solidFill>
          <a:ln>
            <a:solidFill>
              <a:srgbClr val="0D19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50976" y="2295144"/>
            <a:ext cx="7095743" cy="3703320"/>
          </a:xfrm>
          <a:prstGeom prst="rect">
            <a:avLst/>
          </a:prstGeom>
          <a:noFill/>
        </p:spPr>
        <p:txBody>
          <a:bodyPr wrap="square" lIns="18288" tIns="18288" rIns="18288" bIns="18288" anchor="t">
            <a:spAutoFit/>
          </a:bodyPr>
          <a:lstStyle/>
          <a:p>
            <a:pPr>
              <a:spcAft>
                <a:spcPts val="400"/>
              </a:spcAft>
            </a:pPr>
            <a:r>
              <a:rPr sz="1500" b="0" i="0" dirty="0">
                <a:solidFill>
                  <a:srgbClr val="D8EDE7"/>
                </a:solidFill>
                <a:latin typeface="Consolas"/>
              </a:rPr>
              <a:t>import </a:t>
            </a:r>
            <a:r>
              <a:rPr sz="1500" b="0" i="0" dirty="0" err="1">
                <a:solidFill>
                  <a:srgbClr val="D8EDE7"/>
                </a:solidFill>
                <a:latin typeface="Consolas"/>
              </a:rPr>
              <a:t>java.util.Scanner</a:t>
            </a:r>
            <a:r>
              <a:rPr sz="1500" b="0" i="0" dirty="0">
                <a:solidFill>
                  <a:srgbClr val="D8EDE7"/>
                </a:solidFill>
                <a:latin typeface="Consolas"/>
              </a:rPr>
              <a:t>;
public class </a:t>
            </a:r>
            <a:r>
              <a:rPr sz="1500" b="0" i="0" dirty="0" err="1">
                <a:solidFill>
                  <a:srgbClr val="D8EDE7"/>
                </a:solidFill>
                <a:latin typeface="Consolas"/>
              </a:rPr>
              <a:t>FarmersMarketTracker</a:t>
            </a:r>
            <a:r>
              <a:rPr sz="1500" b="0" i="0" dirty="0">
                <a:solidFill>
                  <a:srgbClr val="D8EDE7"/>
                </a:solidFill>
                <a:latin typeface="Consolas"/>
              </a:rPr>
              <a:t> {
    public static void main(String[] </a:t>
            </a:r>
            <a:r>
              <a:rPr sz="1500" b="0" i="0" dirty="0" err="1">
                <a:solidFill>
                  <a:srgbClr val="D8EDE7"/>
                </a:solidFill>
                <a:latin typeface="Consolas"/>
              </a:rPr>
              <a:t>args</a:t>
            </a:r>
            <a:r>
              <a:rPr sz="1500" b="0" i="0" dirty="0">
                <a:solidFill>
                  <a:srgbClr val="D8EDE7"/>
                </a:solidFill>
                <a:latin typeface="Consolas"/>
              </a:rPr>
              <a:t>) {
        Scanner </a:t>
            </a:r>
            <a:r>
              <a:rPr sz="1500" b="0" i="0" dirty="0" err="1">
                <a:solidFill>
                  <a:srgbClr val="D8EDE7"/>
                </a:solidFill>
                <a:latin typeface="Consolas"/>
              </a:rPr>
              <a:t>sc</a:t>
            </a:r>
            <a:r>
              <a:rPr sz="1500" b="0" i="0" dirty="0">
                <a:solidFill>
                  <a:srgbClr val="D8EDE7"/>
                </a:solidFill>
                <a:latin typeface="Consolas"/>
              </a:rPr>
              <a:t> = new Scanner(System.in);
        </a:t>
            </a:r>
            <a:r>
              <a:rPr sz="1500" b="0" i="0" dirty="0" err="1">
                <a:solidFill>
                  <a:srgbClr val="D8EDE7"/>
                </a:solidFill>
                <a:latin typeface="Consolas"/>
              </a:rPr>
              <a:t>System.out.print</a:t>
            </a:r>
            <a:r>
              <a:rPr sz="1500" b="0" i="0" dirty="0">
                <a:solidFill>
                  <a:srgbClr val="D8EDE7"/>
                </a:solidFill>
                <a:latin typeface="Consolas"/>
              </a:rPr>
              <a:t>("Enter crop name: ");
        String crop = </a:t>
            </a:r>
            <a:r>
              <a:rPr sz="1500" b="0" i="0" dirty="0" err="1">
                <a:solidFill>
                  <a:srgbClr val="D8EDE7"/>
                </a:solidFill>
                <a:latin typeface="Consolas"/>
              </a:rPr>
              <a:t>sc.nextLine</a:t>
            </a:r>
            <a:r>
              <a:rPr sz="1500" b="0" i="0" dirty="0">
                <a:solidFill>
                  <a:srgbClr val="D8EDE7"/>
                </a:solidFill>
                <a:latin typeface="Consolas"/>
              </a:rPr>
              <a:t>();
        </a:t>
            </a:r>
            <a:r>
              <a:rPr sz="1500" b="0" i="0" dirty="0" err="1">
                <a:solidFill>
                  <a:srgbClr val="D8EDE7"/>
                </a:solidFill>
                <a:latin typeface="Consolas"/>
              </a:rPr>
              <a:t>System.out.print</a:t>
            </a:r>
            <a:r>
              <a:rPr sz="1500" b="0" i="0" dirty="0">
                <a:solidFill>
                  <a:srgbClr val="D8EDE7"/>
                </a:solidFill>
                <a:latin typeface="Consolas"/>
              </a:rPr>
              <a:t>("Enter price per kg: ");
        double price = </a:t>
            </a:r>
            <a:r>
              <a:rPr sz="1500" b="0" i="0" dirty="0" err="1">
                <a:solidFill>
                  <a:srgbClr val="D8EDE7"/>
                </a:solidFill>
                <a:latin typeface="Consolas"/>
              </a:rPr>
              <a:t>sc.nextDouble</a:t>
            </a:r>
            <a:r>
              <a:rPr sz="1500" b="0" i="0" dirty="0">
                <a:solidFill>
                  <a:srgbClr val="D8EDE7"/>
                </a:solidFill>
                <a:latin typeface="Consolas"/>
              </a:rPr>
              <a:t>();
        </a:t>
            </a:r>
            <a:r>
              <a:rPr sz="1500" b="0" i="0" dirty="0" err="1">
                <a:solidFill>
                  <a:srgbClr val="D8EDE7"/>
                </a:solidFill>
                <a:latin typeface="Consolas"/>
              </a:rPr>
              <a:t>System.out.print</a:t>
            </a:r>
            <a:r>
              <a:rPr sz="1500" b="0" i="0" dirty="0">
                <a:solidFill>
                  <a:srgbClr val="D8EDE7"/>
                </a:solidFill>
                <a:latin typeface="Consolas"/>
              </a:rPr>
              <a:t>("Enter quantity sold (kg): ");
        double quantity = </a:t>
            </a:r>
            <a:r>
              <a:rPr sz="1500" b="0" i="0" dirty="0" err="1">
                <a:solidFill>
                  <a:srgbClr val="D8EDE7"/>
                </a:solidFill>
                <a:latin typeface="Consolas"/>
              </a:rPr>
              <a:t>sc.nextDouble</a:t>
            </a:r>
            <a:r>
              <a:rPr sz="1500" b="0" i="0" dirty="0">
                <a:solidFill>
                  <a:srgbClr val="D8EDE7"/>
                </a:solidFill>
                <a:latin typeface="Consolas"/>
              </a:rPr>
              <a:t>();</a:t>
            </a:r>
          </a:p>
        </p:txBody>
      </p:sp>
      <p:sp>
        <p:nvSpPr>
          <p:cNvPr id="9" name="Rounded Rectangle 8"/>
          <p:cNvSpPr/>
          <p:nvPr/>
        </p:nvSpPr>
        <p:spPr>
          <a:xfrm>
            <a:off x="8549640" y="2514600"/>
            <a:ext cx="2651760" cy="1325880"/>
          </a:xfrm>
          <a:prstGeom prst="roundRect">
            <a:avLst/>
          </a:prstGeom>
          <a:solidFill>
            <a:srgbClr val="FFFFFF"/>
          </a:solidFill>
          <a:ln>
            <a:solidFill>
              <a:srgbClr val="DE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549640" y="2514600"/>
            <a:ext cx="68580" cy="1325880"/>
          </a:xfrm>
          <a:prstGeom prst="rect">
            <a:avLst/>
          </a:prstGeom>
          <a:solidFill>
            <a:srgbClr val="1C9B8B"/>
          </a:solidFill>
          <a:ln>
            <a:solidFill>
              <a:srgbClr val="1C9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750808" y="2679192"/>
            <a:ext cx="2267712" cy="320040"/>
          </a:xfrm>
          <a:prstGeom prst="rect">
            <a:avLst/>
          </a:prstGeom>
          <a:noFill/>
        </p:spPr>
        <p:txBody>
          <a:bodyPr wrap="square" lIns="36576" tIns="36576" rIns="36576" bIns="36576" anchor="t">
            <a:spAutoFit/>
          </a:bodyPr>
          <a:lstStyle/>
          <a:p>
            <a:pPr>
              <a:spcAft>
                <a:spcPts val="400"/>
              </a:spcAft>
            </a:pPr>
            <a:r>
              <a:rPr sz="1500" b="1" i="0">
                <a:solidFill>
                  <a:srgbClr val="132238"/>
                </a:solidFill>
                <a:latin typeface="Aptos"/>
              </a:rPr>
              <a:t>String</a:t>
            </a:r>
          </a:p>
        </p:txBody>
      </p:sp>
      <p:sp>
        <p:nvSpPr>
          <p:cNvPr id="12" name="TextBox 11"/>
          <p:cNvSpPr txBox="1"/>
          <p:nvPr/>
        </p:nvSpPr>
        <p:spPr>
          <a:xfrm>
            <a:off x="8750808" y="3136392"/>
            <a:ext cx="2267712" cy="557784"/>
          </a:xfrm>
          <a:prstGeom prst="rect">
            <a:avLst/>
          </a:prstGeom>
          <a:noFill/>
        </p:spPr>
        <p:txBody>
          <a:bodyPr wrap="square" lIns="36576" tIns="36576" rIns="36576" bIns="36576" anchor="t">
            <a:spAutoFit/>
          </a:bodyPr>
          <a:lstStyle/>
          <a:p>
            <a:pPr>
              <a:spcAft>
                <a:spcPts val="400"/>
              </a:spcAft>
            </a:pPr>
            <a:r>
              <a:rPr sz="1300" b="0" i="0">
                <a:solidFill>
                  <a:srgbClr val="132238"/>
                </a:solidFill>
                <a:latin typeface="Aptos"/>
              </a:rPr>
              <a:t>Crop name text.</a:t>
            </a:r>
          </a:p>
        </p:txBody>
      </p:sp>
      <p:sp>
        <p:nvSpPr>
          <p:cNvPr id="13" name="Rounded Rectangle 12"/>
          <p:cNvSpPr/>
          <p:nvPr/>
        </p:nvSpPr>
        <p:spPr>
          <a:xfrm>
            <a:off x="8549640" y="4096512"/>
            <a:ext cx="2651760" cy="1325880"/>
          </a:xfrm>
          <a:prstGeom prst="roundRect">
            <a:avLst/>
          </a:prstGeom>
          <a:solidFill>
            <a:srgbClr val="FFFFFF"/>
          </a:solidFill>
          <a:ln>
            <a:solidFill>
              <a:srgbClr val="DE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549640" y="4096512"/>
            <a:ext cx="68580" cy="1325880"/>
          </a:xfrm>
          <a:prstGeom prst="rect">
            <a:avLst/>
          </a:prstGeom>
          <a:solidFill>
            <a:srgbClr val="F4BC59"/>
          </a:solidFill>
          <a:ln>
            <a:solidFill>
              <a:srgbClr val="F4B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750808" y="4261104"/>
            <a:ext cx="2267712" cy="320040"/>
          </a:xfrm>
          <a:prstGeom prst="rect">
            <a:avLst/>
          </a:prstGeom>
          <a:noFill/>
        </p:spPr>
        <p:txBody>
          <a:bodyPr wrap="square" lIns="36576" tIns="36576" rIns="36576" bIns="36576" anchor="t">
            <a:spAutoFit/>
          </a:bodyPr>
          <a:lstStyle/>
          <a:p>
            <a:pPr>
              <a:spcAft>
                <a:spcPts val="400"/>
              </a:spcAft>
            </a:pPr>
            <a:r>
              <a:rPr sz="1500" b="1" i="0">
                <a:solidFill>
                  <a:srgbClr val="132238"/>
                </a:solidFill>
                <a:latin typeface="Aptos"/>
              </a:rPr>
              <a:t>double</a:t>
            </a:r>
          </a:p>
        </p:txBody>
      </p:sp>
      <p:sp>
        <p:nvSpPr>
          <p:cNvPr id="16" name="TextBox 15"/>
          <p:cNvSpPr txBox="1"/>
          <p:nvPr/>
        </p:nvSpPr>
        <p:spPr>
          <a:xfrm>
            <a:off x="8750808" y="4718304"/>
            <a:ext cx="2267712" cy="557784"/>
          </a:xfrm>
          <a:prstGeom prst="rect">
            <a:avLst/>
          </a:prstGeom>
          <a:noFill/>
        </p:spPr>
        <p:txBody>
          <a:bodyPr wrap="square" lIns="36576" tIns="36576" rIns="36576" bIns="36576" anchor="t">
            <a:spAutoFit/>
          </a:bodyPr>
          <a:lstStyle/>
          <a:p>
            <a:pPr>
              <a:spcAft>
                <a:spcPts val="400"/>
              </a:spcAft>
            </a:pPr>
            <a:r>
              <a:rPr sz="1300" b="0" i="0">
                <a:solidFill>
                  <a:srgbClr val="132238"/>
                </a:solidFill>
                <a:latin typeface="Aptos"/>
              </a:rPr>
              <a:t>Numeric price and quantity.</a:t>
            </a:r>
          </a:p>
        </p:txBody>
      </p:sp>
      <p:sp>
        <p:nvSpPr>
          <p:cNvPr id="17" name="TextBox 16"/>
          <p:cNvSpPr txBox="1"/>
          <p:nvPr/>
        </p:nvSpPr>
        <p:spPr>
          <a:xfrm>
            <a:off x="8595360" y="5669280"/>
            <a:ext cx="2514600" cy="384048"/>
          </a:xfrm>
          <a:prstGeom prst="rect">
            <a:avLst/>
          </a:prstGeom>
          <a:noFill/>
        </p:spPr>
        <p:txBody>
          <a:bodyPr wrap="square" lIns="36576" tIns="36576" rIns="36576" bIns="36576" anchor="t">
            <a:spAutoFit/>
          </a:bodyPr>
          <a:lstStyle/>
          <a:p>
            <a:pPr>
              <a:spcAft>
                <a:spcPts val="400"/>
              </a:spcAft>
            </a:pPr>
            <a:r>
              <a:rPr sz="1200" b="0" i="1">
                <a:solidFill>
                  <a:srgbClr val="5E6D7E"/>
                </a:solidFill>
                <a:latin typeface="Aptos"/>
              </a:rPr>
              <a:t>Part 2 continues the calculation and report.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8"/>
        </a:solidFill>
        <a:effectLst/>
      </p:bgPr>
    </p:bg>
    <p:spTree>
      <p:nvGrpSpPr>
        <p:cNvPr id="1" name=""/>
        <p:cNvGrpSpPr/>
        <p:nvPr/>
      </p:nvGrpSpPr>
      <p:grpSpPr>
        <a:xfrm>
          <a:off x="0" y="0"/>
          <a:ext cx="0" cy="0"/>
          <a:chOff x="0" y="0"/>
          <a:chExt cx="0" cy="0"/>
        </a:xfrm>
      </p:grpSpPr>
      <p:sp>
        <p:nvSpPr>
          <p:cNvPr id="2" name="TextBox 1"/>
          <p:cNvSpPr txBox="1"/>
          <p:nvPr/>
        </p:nvSpPr>
        <p:spPr>
          <a:xfrm>
            <a:off x="658368" y="292608"/>
            <a:ext cx="9875520" cy="228600"/>
          </a:xfrm>
          <a:prstGeom prst="rect">
            <a:avLst/>
          </a:prstGeom>
          <a:noFill/>
        </p:spPr>
        <p:txBody>
          <a:bodyPr wrap="square" lIns="36576" tIns="36576" rIns="36576" bIns="36576" anchor="t">
            <a:spAutoFit/>
          </a:bodyPr>
          <a:lstStyle/>
          <a:p>
            <a:pPr>
              <a:spcAft>
                <a:spcPts val="400"/>
              </a:spcAft>
            </a:pPr>
            <a:r>
              <a:rPr sz="1000" b="1" i="0">
                <a:solidFill>
                  <a:srgbClr val="1C9B8B"/>
                </a:solidFill>
                <a:latin typeface="Aptos"/>
              </a:rPr>
              <a:t>IMPLEMENTATION</a:t>
            </a:r>
          </a:p>
        </p:txBody>
      </p:sp>
      <p:sp>
        <p:nvSpPr>
          <p:cNvPr id="3" name="TextBox 2"/>
          <p:cNvSpPr txBox="1"/>
          <p:nvPr/>
        </p:nvSpPr>
        <p:spPr>
          <a:xfrm>
            <a:off x="658368" y="658368"/>
            <a:ext cx="10789920" cy="530352"/>
          </a:xfrm>
          <a:prstGeom prst="rect">
            <a:avLst/>
          </a:prstGeom>
          <a:noFill/>
        </p:spPr>
        <p:txBody>
          <a:bodyPr wrap="square" lIns="36576" tIns="36576" rIns="36576" bIns="36576" anchor="t">
            <a:spAutoFit/>
          </a:bodyPr>
          <a:lstStyle/>
          <a:p>
            <a:pPr>
              <a:spcAft>
                <a:spcPts val="400"/>
              </a:spcAft>
            </a:pPr>
            <a:r>
              <a:rPr sz="2800" b="1" i="0">
                <a:solidFill>
                  <a:srgbClr val="132238"/>
                </a:solidFill>
                <a:latin typeface="Aptos"/>
              </a:rPr>
              <a:t>Java Code — Part 2: Calculate &amp; Display</a:t>
            </a:r>
          </a:p>
        </p:txBody>
      </p:sp>
      <p:sp>
        <p:nvSpPr>
          <p:cNvPr id="4" name="Rectangle 3"/>
          <p:cNvSpPr/>
          <p:nvPr/>
        </p:nvSpPr>
        <p:spPr>
          <a:xfrm>
            <a:off x="667512" y="1298448"/>
            <a:ext cx="777240" cy="50292"/>
          </a:xfrm>
          <a:prstGeom prst="rect">
            <a:avLst/>
          </a:prstGeom>
          <a:solidFill>
            <a:srgbClr val="1C9B8B"/>
          </a:solidFill>
          <a:ln>
            <a:solidFill>
              <a:srgbClr val="1C9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744200" y="6473952"/>
            <a:ext cx="822960" cy="182880"/>
          </a:xfrm>
          <a:prstGeom prst="rect">
            <a:avLst/>
          </a:prstGeom>
          <a:noFill/>
        </p:spPr>
        <p:txBody>
          <a:bodyPr wrap="square" lIns="36576" tIns="36576" rIns="36576" bIns="36576" anchor="t">
            <a:spAutoFit/>
          </a:bodyPr>
          <a:lstStyle/>
          <a:p>
            <a:pPr algn="r">
              <a:spcAft>
                <a:spcPts val="400"/>
              </a:spcAft>
            </a:pPr>
            <a:r>
              <a:rPr sz="900" b="0" i="0">
                <a:solidFill>
                  <a:srgbClr val="5E6D7E"/>
                </a:solidFill>
                <a:latin typeface="Aptos"/>
              </a:rPr>
              <a:t>11  /  12</a:t>
            </a:r>
          </a:p>
        </p:txBody>
      </p:sp>
      <p:sp>
        <p:nvSpPr>
          <p:cNvPr id="6" name="Rounded Rectangle 5"/>
          <p:cNvSpPr/>
          <p:nvPr/>
        </p:nvSpPr>
        <p:spPr>
          <a:xfrm>
            <a:off x="749808" y="1664208"/>
            <a:ext cx="7406640" cy="4069080"/>
          </a:xfrm>
          <a:prstGeom prst="roundRect">
            <a:avLst/>
          </a:prstGeom>
          <a:solidFill>
            <a:srgbClr val="0D192A"/>
          </a:solidFill>
          <a:ln>
            <a:solidFill>
              <a:srgbClr val="0D19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50976" y="1810512"/>
            <a:ext cx="7004303" cy="3794760"/>
          </a:xfrm>
          <a:prstGeom prst="rect">
            <a:avLst/>
          </a:prstGeom>
          <a:noFill/>
        </p:spPr>
        <p:txBody>
          <a:bodyPr wrap="square" lIns="18288" tIns="18288" rIns="18288" bIns="18288" anchor="t">
            <a:spAutoFit/>
          </a:bodyPr>
          <a:lstStyle/>
          <a:p>
            <a:pPr>
              <a:spcAft>
                <a:spcPts val="400"/>
              </a:spcAft>
            </a:pPr>
            <a:r>
              <a:rPr sz="1400" b="0" i="0">
                <a:solidFill>
                  <a:srgbClr val="D8EDE7"/>
                </a:solidFill>
                <a:latin typeface="Consolas"/>
              </a:rPr>
              <a:t>        double total = price * quantity;
        System.out.println("\\n--- Sales Report ---");
        System.out.println("Crop: " + crop);
        System.out.println("Price per kg: Rs. " + price);
        System.out.println("Quantity sold: " + quantity + " kg");
        System.out.println("Total sales: Rs. " + total);
        sc.close();
    }
}</a:t>
            </a:r>
          </a:p>
        </p:txBody>
      </p:sp>
      <p:sp>
        <p:nvSpPr>
          <p:cNvPr id="8" name="TextBox 7"/>
          <p:cNvSpPr txBox="1"/>
          <p:nvPr/>
        </p:nvSpPr>
        <p:spPr>
          <a:xfrm>
            <a:off x="8549640" y="1810512"/>
            <a:ext cx="2560320" cy="274320"/>
          </a:xfrm>
          <a:prstGeom prst="rect">
            <a:avLst/>
          </a:prstGeom>
          <a:noFill/>
        </p:spPr>
        <p:txBody>
          <a:bodyPr wrap="square" lIns="36576" tIns="36576" rIns="36576" bIns="36576" anchor="t">
            <a:spAutoFit/>
          </a:bodyPr>
          <a:lstStyle/>
          <a:p>
            <a:pPr>
              <a:spcAft>
                <a:spcPts val="400"/>
              </a:spcAft>
            </a:pPr>
            <a:r>
              <a:rPr sz="1000" b="1" i="0">
                <a:solidFill>
                  <a:srgbClr val="1C9B8B"/>
                </a:solidFill>
                <a:latin typeface="Aptos"/>
              </a:rPr>
              <a:t>SAMPLE OUTPUT</a:t>
            </a:r>
          </a:p>
        </p:txBody>
      </p:sp>
      <p:sp>
        <p:nvSpPr>
          <p:cNvPr id="9" name="Rounded Rectangle 8"/>
          <p:cNvSpPr/>
          <p:nvPr/>
        </p:nvSpPr>
        <p:spPr>
          <a:xfrm>
            <a:off x="8503920" y="2212848"/>
            <a:ext cx="2743200" cy="2514600"/>
          </a:xfrm>
          <a:prstGeom prst="roundRect">
            <a:avLst/>
          </a:prstGeom>
          <a:solidFill>
            <a:srgbClr val="FFFFFF"/>
          </a:solidFill>
          <a:ln>
            <a:solidFill>
              <a:srgbClr val="DEE6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0" y="2395728"/>
            <a:ext cx="2423160" cy="2148840"/>
          </a:xfrm>
          <a:prstGeom prst="rect">
            <a:avLst/>
          </a:prstGeom>
          <a:noFill/>
        </p:spPr>
        <p:txBody>
          <a:bodyPr wrap="square" lIns="36576" tIns="36576" rIns="36576" bIns="36576" anchor="t">
            <a:spAutoFit/>
          </a:bodyPr>
          <a:lstStyle/>
          <a:p>
            <a:pPr>
              <a:spcAft>
                <a:spcPts val="400"/>
              </a:spcAft>
            </a:pPr>
            <a:r>
              <a:rPr sz="1100" b="0" i="0">
                <a:solidFill>
                  <a:srgbClr val="132238"/>
                </a:solidFill>
                <a:latin typeface="Consolas"/>
              </a:rPr>
              <a:t>Enter crop name: Tomato
Enter price per kg: 25
Enter quantity sold (kg): 40
--- Sales Report ---
Crop: Tomato
Total sales: Rs. 1000.0</a:t>
            </a:r>
          </a:p>
        </p:txBody>
      </p:sp>
      <p:sp>
        <p:nvSpPr>
          <p:cNvPr id="11" name="TextBox 10"/>
          <p:cNvSpPr txBox="1"/>
          <p:nvPr/>
        </p:nvSpPr>
        <p:spPr>
          <a:xfrm>
            <a:off x="8549640" y="5074920"/>
            <a:ext cx="2560320" cy="274320"/>
          </a:xfrm>
          <a:prstGeom prst="rect">
            <a:avLst/>
          </a:prstGeom>
          <a:noFill/>
        </p:spPr>
        <p:txBody>
          <a:bodyPr wrap="square" lIns="36576" tIns="36576" rIns="36576" bIns="36576" anchor="t">
            <a:spAutoFit/>
          </a:bodyPr>
          <a:lstStyle/>
          <a:p>
            <a:pPr>
              <a:spcAft>
                <a:spcPts val="400"/>
              </a:spcAft>
            </a:pPr>
            <a:r>
              <a:rPr sz="1400" b="1" i="0">
                <a:solidFill>
                  <a:srgbClr val="132238"/>
                </a:solidFill>
                <a:latin typeface="Aptos"/>
              </a:rPr>
              <a:t>Possible upgrades</a:t>
            </a:r>
          </a:p>
        </p:txBody>
      </p:sp>
      <p:sp>
        <p:nvSpPr>
          <p:cNvPr id="12" name="TextBox 11"/>
          <p:cNvSpPr txBox="1"/>
          <p:nvPr/>
        </p:nvSpPr>
        <p:spPr>
          <a:xfrm>
            <a:off x="8549640" y="5440680"/>
            <a:ext cx="2743200" cy="731520"/>
          </a:xfrm>
          <a:prstGeom prst="rect">
            <a:avLst/>
          </a:prstGeom>
          <a:noFill/>
        </p:spPr>
        <p:txBody>
          <a:bodyPr wrap="square" lIns="36576" tIns="36576" rIns="36576" bIns="36576" anchor="t">
            <a:spAutoFit/>
          </a:bodyPr>
          <a:lstStyle/>
          <a:p>
            <a:pPr>
              <a:spcAft>
                <a:spcPts val="400"/>
              </a:spcAft>
            </a:pPr>
            <a:r>
              <a:rPr sz="1200" b="0" i="0">
                <a:solidFill>
                  <a:srgbClr val="5E6D7E"/>
                </a:solidFill>
                <a:latin typeface="Aptos"/>
              </a:rPr>
              <a:t>• Reject negative values
• Format currency to 2 decimals
• Save records to a file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32238"/>
        </a:solidFill>
        <a:effectLst/>
      </p:bgPr>
    </p:bg>
    <p:spTree>
      <p:nvGrpSpPr>
        <p:cNvPr id="1" name=""/>
        <p:cNvGrpSpPr/>
        <p:nvPr/>
      </p:nvGrpSpPr>
      <p:grpSpPr>
        <a:xfrm>
          <a:off x="0" y="0"/>
          <a:ext cx="0" cy="0"/>
          <a:chOff x="0" y="0"/>
          <a:chExt cx="0" cy="0"/>
        </a:xfrm>
      </p:grpSpPr>
      <p:sp>
        <p:nvSpPr>
          <p:cNvPr id="2" name="Oval 1"/>
          <p:cNvSpPr/>
          <p:nvPr/>
        </p:nvSpPr>
        <p:spPr>
          <a:xfrm>
            <a:off x="8366760" y="-731520"/>
            <a:ext cx="4572000" cy="4572000"/>
          </a:xfrm>
          <a:prstGeom prst="ellipse">
            <a:avLst/>
          </a:prstGeom>
          <a:solidFill>
            <a:srgbClr val="1C9B8B"/>
          </a:solidFill>
          <a:ln>
            <a:solidFill>
              <a:srgbClr val="1C9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509760" y="3383280"/>
            <a:ext cx="3108960" cy="3108960"/>
          </a:xfrm>
          <a:prstGeom prst="ellipse">
            <a:avLst/>
          </a:prstGeom>
          <a:solidFill>
            <a:srgbClr val="F4BC59"/>
          </a:solidFill>
          <a:ln>
            <a:solidFill>
              <a:srgbClr val="F4B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909560" y="4434840"/>
            <a:ext cx="1783080" cy="1783080"/>
          </a:xfrm>
          <a:prstGeom prst="ellipse">
            <a:avLst/>
          </a:prstGeom>
          <a:solidFill>
            <a:srgbClr val="E6F5F1"/>
          </a:solidFill>
          <a:ln>
            <a:solidFill>
              <a:srgbClr val="E6F5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64592" cy="6858000"/>
          </a:xfrm>
          <a:prstGeom prst="rect">
            <a:avLst/>
          </a:prstGeom>
          <a:solidFill>
            <a:srgbClr val="1C9B8B"/>
          </a:solidFill>
          <a:ln>
            <a:solidFill>
              <a:srgbClr val="1C9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8" y="1965960"/>
            <a:ext cx="6858000" cy="777240"/>
          </a:xfrm>
          <a:prstGeom prst="rect">
            <a:avLst/>
          </a:prstGeom>
          <a:noFill/>
        </p:spPr>
        <p:txBody>
          <a:bodyPr wrap="square" lIns="36576" tIns="36576" rIns="36576" bIns="36576" anchor="t">
            <a:spAutoFit/>
          </a:bodyPr>
          <a:lstStyle/>
          <a:p>
            <a:pPr>
              <a:spcAft>
                <a:spcPts val="400"/>
              </a:spcAft>
            </a:pPr>
            <a:r>
              <a:rPr sz="4200" b="1" i="0">
                <a:solidFill>
                  <a:srgbClr val="FFFFFF"/>
                </a:solidFill>
                <a:latin typeface="Aptos"/>
              </a:rPr>
              <a:t>THANK YOU</a:t>
            </a:r>
          </a:p>
        </p:txBody>
      </p:sp>
      <p:sp>
        <p:nvSpPr>
          <p:cNvPr id="9" name="TextBox 8"/>
          <p:cNvSpPr txBox="1"/>
          <p:nvPr/>
        </p:nvSpPr>
        <p:spPr>
          <a:xfrm>
            <a:off x="896112" y="2926080"/>
            <a:ext cx="7132320" cy="438912"/>
          </a:xfrm>
          <a:prstGeom prst="rect">
            <a:avLst/>
          </a:prstGeom>
          <a:noFill/>
        </p:spPr>
        <p:txBody>
          <a:bodyPr wrap="square" lIns="36576" tIns="36576" rIns="36576" bIns="36576" anchor="t">
            <a:spAutoFit/>
          </a:bodyPr>
          <a:lstStyle/>
          <a:p>
            <a:pPr>
              <a:spcAft>
                <a:spcPts val="400"/>
              </a:spcAft>
            </a:pPr>
            <a:r>
              <a:rPr sz="2100" b="1" i="0">
                <a:solidFill>
                  <a:srgbClr val="BEE27C"/>
                </a:solidFill>
                <a:latin typeface="Aptos"/>
              </a:rPr>
              <a:t>Farmers Market Price &amp; Sales Tracker</a:t>
            </a:r>
          </a:p>
        </p:txBody>
      </p:sp>
      <p:sp>
        <p:nvSpPr>
          <p:cNvPr id="10" name="TextBox 9"/>
          <p:cNvSpPr txBox="1"/>
          <p:nvPr/>
        </p:nvSpPr>
        <p:spPr>
          <a:xfrm>
            <a:off x="896112" y="3657600"/>
            <a:ext cx="6217920" cy="731520"/>
          </a:xfrm>
          <a:prstGeom prst="rect">
            <a:avLst/>
          </a:prstGeom>
          <a:noFill/>
        </p:spPr>
        <p:txBody>
          <a:bodyPr wrap="square" lIns="36576" tIns="36576" rIns="36576" bIns="36576" anchor="t">
            <a:spAutoFit/>
          </a:bodyPr>
          <a:lstStyle/>
          <a:p>
            <a:pPr>
              <a:spcAft>
                <a:spcPts val="400"/>
              </a:spcAft>
            </a:pPr>
            <a:r>
              <a:rPr sz="1800" b="0" i="0">
                <a:solidFill>
                  <a:srgbClr val="D8E5EC"/>
                </a:solidFill>
                <a:latin typeface="Aptos"/>
              </a:rPr>
              <a:t>Thank you for your time.
Questions and suggestions are welcome.</a:t>
            </a:r>
          </a:p>
        </p:txBody>
      </p:sp>
      <p:sp>
        <p:nvSpPr>
          <p:cNvPr id="11" name="Rectangle 10"/>
          <p:cNvSpPr/>
          <p:nvPr/>
        </p:nvSpPr>
        <p:spPr>
          <a:xfrm>
            <a:off x="896112" y="4736592"/>
            <a:ext cx="914400" cy="54864"/>
          </a:xfrm>
          <a:prstGeom prst="rect">
            <a:avLst/>
          </a:prstGeom>
          <a:solidFill>
            <a:srgbClr val="F4BC59"/>
          </a:solidFill>
          <a:ln>
            <a:solidFill>
              <a:srgbClr val="F4B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BB8D894-27AF-9BAF-3648-BB86AA46F3FD}"/>
              </a:ext>
            </a:extLst>
          </p:cNvPr>
          <p:cNvPicPr>
            <a:picLocks noChangeAspect="1"/>
          </p:cNvPicPr>
          <p:nvPr/>
        </p:nvPicPr>
        <p:blipFill>
          <a:blip r:embed="rId2"/>
          <a:stretch>
            <a:fillRect/>
          </a:stretch>
        </p:blipFill>
        <p:spPr>
          <a:xfrm>
            <a:off x="2165230" y="1043795"/>
            <a:ext cx="7858664" cy="5348379"/>
          </a:xfrm>
          <a:prstGeom prst="rect">
            <a:avLst/>
          </a:prstGeom>
        </p:spPr>
      </p:pic>
      <p:sp>
        <p:nvSpPr>
          <p:cNvPr id="6" name="TextBox 5">
            <a:extLst>
              <a:ext uri="{FF2B5EF4-FFF2-40B4-BE49-F238E27FC236}">
                <a16:creationId xmlns:a16="http://schemas.microsoft.com/office/drawing/2014/main" id="{0D0B6BE6-3FD0-1CDE-96CF-12CB7AD54B3C}"/>
              </a:ext>
            </a:extLst>
          </p:cNvPr>
          <p:cNvSpPr txBox="1"/>
          <p:nvPr/>
        </p:nvSpPr>
        <p:spPr>
          <a:xfrm>
            <a:off x="4057991" y="115027"/>
            <a:ext cx="6094562" cy="830997"/>
          </a:xfrm>
          <a:prstGeom prst="rect">
            <a:avLst/>
          </a:prstGeom>
          <a:noFill/>
        </p:spPr>
        <p:txBody>
          <a:bodyPr wrap="square">
            <a:spAutoFit/>
          </a:bodyPr>
          <a:lstStyle/>
          <a:p>
            <a:r>
              <a:rPr lang="en-US" sz="4800" b="1" dirty="0"/>
              <a:t>GEO TAG PIC :</a:t>
            </a:r>
            <a:endParaRPr lang="en-IN" sz="4800" b="1" dirty="0"/>
          </a:p>
        </p:txBody>
      </p:sp>
    </p:spTree>
    <p:extLst>
      <p:ext uri="{BB962C8B-B14F-4D97-AF65-F5344CB8AC3E}">
        <p14:creationId xmlns:p14="http://schemas.microsoft.com/office/powerpoint/2010/main" val="23019434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42</TotalTime>
  <Words>1358</Words>
  <Application>Microsoft Office PowerPoint</Application>
  <PresentationFormat>Widescreen</PresentationFormat>
  <Paragraphs>114</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Calibri</vt:lpstr>
      <vt:lpstr>Consolas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dc:description>generated using python-pptx</dc:description>
  <cp:lastModifiedBy>Gannavarapu Sanjana</cp:lastModifiedBy>
  <cp:revision>6</cp:revision>
  <dcterms:created xsi:type="dcterms:W3CDTF">2013-01-27T09:14:16Z</dcterms:created>
  <dcterms:modified xsi:type="dcterms:W3CDTF">2026-10-16T07:00:26Z</dcterms:modified>
</cp:coreProperties>
</file>